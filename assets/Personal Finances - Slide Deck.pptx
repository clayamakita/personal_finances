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Lexend SemiBold"/>
      <p:regular r:id="rId19"/>
      <p:bold r:id="rId20"/>
    </p:embeddedFont>
    <p:embeddedFont>
      <p:font typeface="Lexen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SemiBold-bold.fntdata"/><Relationship Id="rId11" Type="http://schemas.openxmlformats.org/officeDocument/2006/relationships/slide" Target="slides/slide6.xml"/><Relationship Id="rId22" Type="http://schemas.openxmlformats.org/officeDocument/2006/relationships/font" Target="fonts/Lexend-bold.fntdata"/><Relationship Id="rId10" Type="http://schemas.openxmlformats.org/officeDocument/2006/relationships/slide" Target="slides/slide5.xml"/><Relationship Id="rId21" Type="http://schemas.openxmlformats.org/officeDocument/2006/relationships/font" Target="fonts/Lexen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LexendSemiBold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82f3b34b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82f3b34b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f0df29b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f0df29b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87d095e9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87d095e9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87d095e9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87d095e9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f0df29bf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f0df29bf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d8e927e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d8e927e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8c569b5b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8c569b5b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25a16e44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25a16e44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17a855a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17a855a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f57d32f4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f57d32f4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f57d32f4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f57d32f4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f57d32f4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ef57d32f4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b9ee62f1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8b9ee62f1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41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863550"/>
            <a:ext cx="8520600" cy="39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241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241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2412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4F7FE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2800"/>
              <a:buFont typeface="Lexend SemiBold"/>
              <a:buNone/>
              <a:defRPr sz="2800">
                <a:solidFill>
                  <a:srgbClr val="393939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973701"/>
            <a:ext cx="8520600" cy="3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hyperlink" Target="https://github.com/clayamakita/personal_finances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hyperlink" Target="https://github.com/clayamakita/personal_finance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hyperlink" Target="https://github.com/clayamakita/personal_finance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iwillteachyoutoberich.com/conscious-spending-basics/" TargetMode="External"/><Relationship Id="rId4" Type="http://schemas.openxmlformats.org/officeDocument/2006/relationships/hyperlink" Target="https://github.com/clayamakita/personal_finance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hyperlink" Target="https://github.com/clayamakita/personal_finance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hyperlink" Target="https://github.com/clayamakita/personal_finance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hyperlink" Target="https://github.com/clayamakita/personal_finance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hyperlink" Target="https://github.com/clayamakita/personal_finances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hyperlink" Target="https://github.com/clayamakita/personal_finance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hyperlink" Target="https://github.com/clayamakita/personal_finance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hyperlink" Target="https://github.com/clayamakita/personal_finances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hyperlink" Target="https://github.com/clayamakita/personal_finance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hyperlink" Target="https://github.com/clayamakita/personal_financ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241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Personal Finances Project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4000" y="1120175"/>
            <a:ext cx="6201000" cy="33852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114300" rotWithShape="0" algn="bl" dir="5400000" dist="47625">
              <a:srgbClr val="000000">
                <a:alpha val="50000"/>
              </a:srgbClr>
            </a:outerShdw>
          </a:effectLst>
        </p:spPr>
      </p:pic>
      <p:sp>
        <p:nvSpPr>
          <p:cNvPr id="56" name="Google Shape;56;p13"/>
          <p:cNvSpPr txBox="1"/>
          <p:nvPr/>
        </p:nvSpPr>
        <p:spPr>
          <a:xfrm>
            <a:off x="7076100" y="4749900"/>
            <a:ext cx="2067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latin typeface="Lexend"/>
                <a:ea typeface="Lexend"/>
                <a:cs typeface="Lexend"/>
                <a:sym typeface="Lexend"/>
              </a:rPr>
              <a:t>Created by </a:t>
            </a:r>
            <a:r>
              <a:rPr lang="en-CA" sz="10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Clarissa Yamakita</a:t>
            </a:r>
            <a:endParaRPr sz="1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654650" y="1038439"/>
            <a:ext cx="3936300" cy="31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CA" sz="1600">
                <a:latin typeface="Lexend"/>
                <a:ea typeface="Lexend"/>
                <a:cs typeface="Lexend"/>
                <a:sym typeface="Lexend"/>
              </a:rPr>
              <a:t>This is </a:t>
            </a:r>
            <a:r>
              <a:rPr b="1" lang="en-CA" sz="1600">
                <a:latin typeface="Lexend"/>
                <a:ea typeface="Lexend"/>
                <a:cs typeface="Lexend"/>
                <a:sym typeface="Lexend"/>
              </a:rPr>
              <a:t>Kenji</a:t>
            </a:r>
            <a:r>
              <a:rPr lang="en-CA" sz="1600">
                <a:latin typeface="Lexend"/>
                <a:ea typeface="Lexend"/>
                <a:cs typeface="Lexend"/>
                <a:sym typeface="Lexend"/>
              </a:rPr>
              <a:t>, an avid gamer who also applies his problem solving skills in his role as a product manager.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CA" sz="1600">
                <a:latin typeface="Lexend"/>
                <a:ea typeface="Lexend"/>
                <a:cs typeface="Lexend"/>
                <a:sym typeface="Lexend"/>
              </a:rPr>
              <a:t>And this is </a:t>
            </a:r>
            <a:r>
              <a:rPr b="1" lang="en-CA" sz="1600">
                <a:latin typeface="Lexend"/>
                <a:ea typeface="Lexend"/>
                <a:cs typeface="Lexend"/>
                <a:sym typeface="Lexend"/>
              </a:rPr>
              <a:t>Mei</a:t>
            </a:r>
            <a:r>
              <a:rPr lang="en-CA" sz="1600">
                <a:latin typeface="Lexend"/>
                <a:ea typeface="Lexend"/>
                <a:cs typeface="Lexend"/>
                <a:sym typeface="Lexend"/>
              </a:rPr>
              <a:t>, a sound designer who brings music into all aspects of her life.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600">
                <a:latin typeface="Lexend"/>
                <a:ea typeface="Lexend"/>
                <a:cs typeface="Lexend"/>
                <a:sym typeface="Lexend"/>
              </a:rPr>
              <a:t>They’re a </a:t>
            </a:r>
            <a:r>
              <a:rPr b="1" lang="en-CA" sz="1600">
                <a:latin typeface="Lexend"/>
                <a:ea typeface="Lexend"/>
                <a:cs typeface="Lexend"/>
                <a:sym typeface="Lexend"/>
              </a:rPr>
              <a:t>couple in their 30s</a:t>
            </a:r>
            <a:r>
              <a:rPr lang="en-CA" sz="16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CA" sz="1600">
                <a:latin typeface="Lexend"/>
                <a:ea typeface="Lexend"/>
                <a:cs typeface="Lexend"/>
                <a:sym typeface="Lexend"/>
              </a:rPr>
              <a:t>who </a:t>
            </a:r>
            <a:r>
              <a:rPr lang="en-CA" sz="1600">
                <a:latin typeface="Lexend"/>
                <a:ea typeface="Lexend"/>
                <a:cs typeface="Lexend"/>
                <a:sym typeface="Lexend"/>
              </a:rPr>
              <a:t>want to make sure they’re taking the </a:t>
            </a:r>
            <a:r>
              <a:rPr b="1" lang="en-CA" sz="1600">
                <a:latin typeface="Lexend"/>
                <a:ea typeface="Lexend"/>
                <a:cs typeface="Lexend"/>
                <a:sym typeface="Lexend"/>
              </a:rPr>
              <a:t>right financial decisions</a:t>
            </a:r>
            <a:r>
              <a:rPr lang="en-CA" sz="1600"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0" y="0"/>
            <a:ext cx="360000" cy="5143500"/>
          </a:xfrm>
          <a:prstGeom prst="rect">
            <a:avLst/>
          </a:prstGeom>
          <a:solidFill>
            <a:srgbClr val="3C46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Gemini_Generated_Image_xcuxq6xcuxq6xcux.png"/>
          <p:cNvPicPr preferRelativeResize="0"/>
          <p:nvPr/>
        </p:nvPicPr>
        <p:blipFill rotWithShape="1">
          <a:blip r:embed="rId3">
            <a:alphaModFix/>
          </a:blip>
          <a:srcRect b="0" l="12336" r="4143" t="0"/>
          <a:stretch/>
        </p:blipFill>
        <p:spPr>
          <a:xfrm>
            <a:off x="4754500" y="1254314"/>
            <a:ext cx="4042500" cy="2640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114300" rotWithShape="0" algn="bl" dir="5400000" dist="47625">
              <a:srgbClr val="000000">
                <a:alpha val="50000"/>
              </a:srgbClr>
            </a:outerShdw>
          </a:effectLst>
        </p:spPr>
      </p:pic>
      <p:sp>
        <p:nvSpPr>
          <p:cNvPr id="64" name="Google Shape;64;p14"/>
          <p:cNvSpPr txBox="1"/>
          <p:nvPr>
            <p:ph type="title"/>
          </p:nvPr>
        </p:nvSpPr>
        <p:spPr>
          <a:xfrm>
            <a:off x="540000" y="180000"/>
            <a:ext cx="658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Meet the protagonists of our story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7076100" y="4749900"/>
            <a:ext cx="2067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latin typeface="Lexend"/>
                <a:ea typeface="Lexend"/>
                <a:cs typeface="Lexend"/>
                <a:sym typeface="Lexend"/>
              </a:rPr>
              <a:t>Created by </a:t>
            </a:r>
            <a:r>
              <a:rPr lang="en-CA" sz="10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Clarissa Yamakita</a:t>
            </a:r>
            <a:endParaRPr sz="1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2062647" y="1471332"/>
            <a:ext cx="5672100" cy="71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2601" lvl="0" marL="388800" rtl="0" algn="l"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Char char="➔"/>
            </a:pPr>
            <a:r>
              <a:rPr lang="en-CA" sz="1200">
                <a:latin typeface="Lexend"/>
                <a:ea typeface="Lexend"/>
                <a:cs typeface="Lexend"/>
                <a:sym typeface="Lexend"/>
              </a:rPr>
              <a:t>Can they </a:t>
            </a:r>
            <a:r>
              <a:rPr lang="en-CA" sz="1200">
                <a:latin typeface="Lexend"/>
                <a:ea typeface="Lexend"/>
                <a:cs typeface="Lexend"/>
                <a:sym typeface="Lexend"/>
              </a:rPr>
              <a:t>afford</a:t>
            </a:r>
            <a:r>
              <a:rPr lang="en-CA" sz="1200">
                <a:latin typeface="Lexend"/>
                <a:ea typeface="Lexend"/>
                <a:cs typeface="Lexend"/>
                <a:sym typeface="Lexend"/>
              </a:rPr>
              <a:t> these groceries?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162601" lvl="0" marL="388800" rtl="0" algn="l">
              <a:spcBef>
                <a:spcPts val="1000"/>
              </a:spcBef>
              <a:spcAft>
                <a:spcPts val="1000"/>
              </a:spcAft>
              <a:buSzPts val="1200"/>
              <a:buFont typeface="Lexend"/>
              <a:buChar char="➔"/>
            </a:pPr>
            <a:r>
              <a:rPr lang="en-CA" sz="1200">
                <a:latin typeface="Lexend"/>
                <a:ea typeface="Lexend"/>
                <a:cs typeface="Lexend"/>
                <a:sym typeface="Lexend"/>
              </a:rPr>
              <a:t>Can they book a VR session this weekend?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2062647" y="1089843"/>
            <a:ext cx="5673600" cy="386400"/>
          </a:xfrm>
          <a:prstGeom prst="roundRect">
            <a:avLst>
              <a:gd fmla="val 16667" name="adj"/>
            </a:avLst>
          </a:prstGeom>
          <a:solidFill>
            <a:srgbClr val="775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 1. Enjoy Life</a:t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2062647" y="2726231"/>
            <a:ext cx="5672100" cy="71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2601" lvl="0" marL="388800" rtl="0" algn="l"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Char char="➔"/>
            </a:pPr>
            <a:r>
              <a:rPr lang="en-CA" sz="1200">
                <a:latin typeface="Lexend"/>
                <a:ea typeface="Lexend"/>
                <a:cs typeface="Lexend"/>
                <a:sym typeface="Lexend"/>
              </a:rPr>
              <a:t>Which goals are already funded?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162601" lvl="0" marL="388800" rtl="0" algn="l">
              <a:spcBef>
                <a:spcPts val="1000"/>
              </a:spcBef>
              <a:spcAft>
                <a:spcPts val="1000"/>
              </a:spcAft>
              <a:buSzPts val="1200"/>
              <a:buFont typeface="Lexend"/>
              <a:buChar char="➔"/>
            </a:pPr>
            <a:r>
              <a:rPr lang="en-CA" sz="1200">
                <a:latin typeface="Lexend"/>
                <a:ea typeface="Lexend"/>
                <a:cs typeface="Lexend"/>
                <a:sym typeface="Lexend"/>
              </a:rPr>
              <a:t>When will they be able to buy a car?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15"/>
          <p:cNvSpPr txBox="1"/>
          <p:nvPr>
            <p:ph type="title"/>
          </p:nvPr>
        </p:nvSpPr>
        <p:spPr>
          <a:xfrm>
            <a:off x="540000" y="180000"/>
            <a:ext cx="658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They have some objectives in mind</a:t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2062647" y="3599625"/>
            <a:ext cx="5672100" cy="385200"/>
          </a:xfrm>
          <a:prstGeom prst="roundRect">
            <a:avLst>
              <a:gd fmla="val 16667" name="adj"/>
            </a:avLst>
          </a:prstGeom>
          <a:solidFill>
            <a:srgbClr val="775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 3. Build Wealth</a:t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0" y="0"/>
            <a:ext cx="360000" cy="5143500"/>
          </a:xfrm>
          <a:prstGeom prst="rect">
            <a:avLst/>
          </a:prstGeom>
          <a:solidFill>
            <a:srgbClr val="3C46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2062647" y="3981114"/>
            <a:ext cx="5672100" cy="71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2601" lvl="0" marL="388800" rtl="0" algn="l"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Char char="➔"/>
            </a:pPr>
            <a:r>
              <a:rPr lang="en-CA" sz="1200">
                <a:latin typeface="Lexend"/>
                <a:ea typeface="Lexend"/>
                <a:cs typeface="Lexend"/>
                <a:sym typeface="Lexend"/>
              </a:rPr>
              <a:t>Will they </a:t>
            </a:r>
            <a:r>
              <a:rPr lang="en-CA" sz="1200">
                <a:latin typeface="Lexend"/>
                <a:ea typeface="Lexend"/>
                <a:cs typeface="Lexend"/>
                <a:sym typeface="Lexend"/>
              </a:rPr>
              <a:t>be able to retire at 65?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162601" lvl="0" marL="388800" rtl="0" algn="l">
              <a:spcBef>
                <a:spcPts val="1000"/>
              </a:spcBef>
              <a:spcAft>
                <a:spcPts val="1000"/>
              </a:spcAft>
              <a:buSzPts val="1200"/>
              <a:buFont typeface="Lexend"/>
              <a:buChar char="➔"/>
            </a:pPr>
            <a:r>
              <a:rPr lang="en-CA" sz="1200">
                <a:latin typeface="Lexend"/>
                <a:ea typeface="Lexend"/>
                <a:cs typeface="Lexend"/>
                <a:sym typeface="Lexend"/>
              </a:rPr>
              <a:t>What will be their income once they retire?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062647" y="2344742"/>
            <a:ext cx="5672100" cy="385200"/>
          </a:xfrm>
          <a:prstGeom prst="roundRect">
            <a:avLst>
              <a:gd fmla="val 16667" name="adj"/>
            </a:avLst>
          </a:prstGeom>
          <a:solidFill>
            <a:srgbClr val="775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 2. Achieve Goals</a:t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" name="Google Shape;78;p15" title="Untitled - June 30, 2026 at 08.42.49.png"/>
          <p:cNvPicPr preferRelativeResize="0"/>
          <p:nvPr/>
        </p:nvPicPr>
        <p:blipFill rotWithShape="1">
          <a:blip r:embed="rId3">
            <a:alphaModFix/>
          </a:blip>
          <a:srcRect b="66890" l="0" r="0" t="0"/>
          <a:stretch/>
        </p:blipFill>
        <p:spPr>
          <a:xfrm>
            <a:off x="540000" y="1017700"/>
            <a:ext cx="1422000" cy="1141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 title="Untitled - June 30, 2026 at 08.42.49.png"/>
          <p:cNvPicPr preferRelativeResize="0"/>
          <p:nvPr/>
        </p:nvPicPr>
        <p:blipFill rotWithShape="1">
          <a:blip r:embed="rId3">
            <a:alphaModFix/>
          </a:blip>
          <a:srcRect b="34020" l="0" r="0" t="32871"/>
          <a:stretch/>
        </p:blipFill>
        <p:spPr>
          <a:xfrm>
            <a:off x="540000" y="2308145"/>
            <a:ext cx="1422000" cy="1141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 title="Untitled - June 30, 2026 at 08.42.49.png"/>
          <p:cNvPicPr preferRelativeResize="0"/>
          <p:nvPr/>
        </p:nvPicPr>
        <p:blipFill rotWithShape="1">
          <a:blip r:embed="rId3">
            <a:alphaModFix/>
          </a:blip>
          <a:srcRect b="0" l="0" r="0" t="65186"/>
          <a:stretch/>
        </p:blipFill>
        <p:spPr>
          <a:xfrm>
            <a:off x="540000" y="3493931"/>
            <a:ext cx="1422000" cy="1207823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7076100" y="4749900"/>
            <a:ext cx="2067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latin typeface="Lexend"/>
                <a:ea typeface="Lexend"/>
                <a:cs typeface="Lexend"/>
                <a:sym typeface="Lexend"/>
              </a:rPr>
              <a:t>Created by </a:t>
            </a:r>
            <a:r>
              <a:rPr lang="en-CA" sz="10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Clarissa Yamakita</a:t>
            </a:r>
            <a:endParaRPr sz="1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540000" y="180000"/>
            <a:ext cx="816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How to achieve them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540000" y="863550"/>
            <a:ext cx="83139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CA" sz="1500">
                <a:latin typeface="Lexend"/>
                <a:ea typeface="Lexend"/>
                <a:cs typeface="Lexend"/>
                <a:sym typeface="Lexend"/>
              </a:rPr>
              <a:t>Apply </a:t>
            </a:r>
            <a:r>
              <a:rPr lang="en-CA" sz="15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3"/>
              </a:rPr>
              <a:t>Conscious Spending Plan* </a:t>
            </a:r>
            <a:r>
              <a:rPr lang="en-CA" sz="1500">
                <a:latin typeface="Lexend"/>
                <a:ea typeface="Lexend"/>
                <a:cs typeface="Lexend"/>
                <a:sym typeface="Lexend"/>
              </a:rPr>
              <a:t>framework and allocate take-home pay: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0" y="0"/>
            <a:ext cx="360000" cy="5143500"/>
          </a:xfrm>
          <a:prstGeom prst="rect">
            <a:avLst/>
          </a:prstGeom>
          <a:solidFill>
            <a:srgbClr val="3C46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857297" y="1936592"/>
            <a:ext cx="1800000" cy="536400"/>
          </a:xfrm>
          <a:prstGeom prst="roundRect">
            <a:avLst>
              <a:gd fmla="val 16667" name="adj"/>
            </a:avLst>
          </a:prstGeom>
          <a:solidFill>
            <a:srgbClr val="775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Fixed Costs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2929522" y="1936592"/>
            <a:ext cx="3954600" cy="53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Lexend"/>
                <a:ea typeface="Lexend"/>
                <a:cs typeface="Lexend"/>
                <a:sym typeface="Lexend"/>
              </a:rPr>
              <a:t>What you need to live on a month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Lexend"/>
                <a:ea typeface="Lexend"/>
                <a:cs typeface="Lexend"/>
                <a:sym typeface="Lexend"/>
              </a:rPr>
              <a:t>(rent, utilities, groceries, transportation)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857297" y="4059380"/>
            <a:ext cx="1800000" cy="536400"/>
          </a:xfrm>
          <a:prstGeom prst="roundRect">
            <a:avLst>
              <a:gd fmla="val 16667" name="adj"/>
            </a:avLst>
          </a:prstGeom>
          <a:solidFill>
            <a:srgbClr val="775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Guilt-Free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857297" y="2644188"/>
            <a:ext cx="1800000" cy="536400"/>
          </a:xfrm>
          <a:prstGeom prst="roundRect">
            <a:avLst>
              <a:gd fmla="val 16667" name="adj"/>
            </a:avLst>
          </a:prstGeom>
          <a:solidFill>
            <a:srgbClr val="775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Savings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857297" y="3351784"/>
            <a:ext cx="1800000" cy="536400"/>
          </a:xfrm>
          <a:prstGeom prst="roundRect">
            <a:avLst>
              <a:gd fmla="val 16667" name="adj"/>
            </a:avLst>
          </a:prstGeom>
          <a:solidFill>
            <a:srgbClr val="775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Investments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2929522" y="2644088"/>
            <a:ext cx="3954600" cy="53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Lexend"/>
                <a:ea typeface="Lexend"/>
                <a:cs typeface="Lexend"/>
                <a:sym typeface="Lexend"/>
              </a:rPr>
              <a:t>Money you’re going to use in 1 to 5 years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Lexend"/>
                <a:ea typeface="Lexend"/>
                <a:cs typeface="Lexend"/>
                <a:sym typeface="Lexend"/>
              </a:rPr>
              <a:t>(emergency fund, vacation, car)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2929522" y="3351584"/>
            <a:ext cx="3954600" cy="53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Lexend"/>
                <a:ea typeface="Lexend"/>
                <a:cs typeface="Lexend"/>
                <a:sym typeface="Lexend"/>
              </a:rPr>
              <a:t>Wealth building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Lexend"/>
                <a:ea typeface="Lexend"/>
                <a:cs typeface="Lexend"/>
                <a:sym typeface="Lexend"/>
              </a:rPr>
              <a:t>(TFSA, RRSP, non-registered accounts)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2929522" y="4059080"/>
            <a:ext cx="3954600" cy="53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Lexend"/>
                <a:ea typeface="Lexend"/>
                <a:cs typeface="Lexend"/>
                <a:sym typeface="Lexend"/>
              </a:rPr>
              <a:t>What you love to do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Lexend"/>
                <a:ea typeface="Lexend"/>
                <a:cs typeface="Lexend"/>
                <a:sym typeface="Lexend"/>
              </a:rPr>
              <a:t>(travel, eating out, clothes, hobbies)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7156347" y="1936592"/>
            <a:ext cx="1422300" cy="5364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-CA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50 - 60%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948472" y="1499909"/>
            <a:ext cx="14223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Type</a:t>
            </a:r>
            <a:endParaRPr sz="1200">
              <a:solidFill>
                <a:schemeClr val="dk2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4195672" y="1499909"/>
            <a:ext cx="14223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Description</a:t>
            </a:r>
            <a:endParaRPr sz="1200">
              <a:solidFill>
                <a:schemeClr val="dk2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7033797" y="1499909"/>
            <a:ext cx="16674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% T</a:t>
            </a:r>
            <a:r>
              <a:rPr lang="en-CA" sz="12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ake-Home</a:t>
            </a:r>
            <a:r>
              <a:rPr lang="en-CA" sz="12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 Pay</a:t>
            </a:r>
            <a:endParaRPr sz="1200">
              <a:solidFill>
                <a:schemeClr val="dk2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7156347" y="2644088"/>
            <a:ext cx="1422300" cy="5364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-CA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5 - 10%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7156347" y="3351584"/>
            <a:ext cx="1422300" cy="5364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-CA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5 - 10%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7156347" y="4059080"/>
            <a:ext cx="1422300" cy="5364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-CA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CA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0 - 35%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7076100" y="4749900"/>
            <a:ext cx="2067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latin typeface="Lexend"/>
                <a:ea typeface="Lexend"/>
                <a:cs typeface="Lexend"/>
                <a:sym typeface="Lexend"/>
              </a:rPr>
              <a:t>Created by </a:t>
            </a:r>
            <a:r>
              <a:rPr lang="en-CA" sz="10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Clarissa Yamakita</a:t>
            </a:r>
            <a:endParaRPr sz="1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540000" y="180000"/>
            <a:ext cx="8427600" cy="5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How can they make sure they’re on the right track?</a:t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0" y="0"/>
            <a:ext cx="360000" cy="5143500"/>
          </a:xfrm>
          <a:prstGeom prst="rect">
            <a:avLst/>
          </a:prstGeom>
          <a:solidFill>
            <a:srgbClr val="3C46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200" y="884375"/>
            <a:ext cx="4973826" cy="2780499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5400000" dist="38100">
              <a:srgbClr val="000000">
                <a:alpha val="50000"/>
              </a:srgbClr>
            </a:outerShdw>
          </a:effectLst>
        </p:spPr>
      </p:pic>
      <p:pic>
        <p:nvPicPr>
          <p:cNvPr id="112" name="Google Shape;11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8925" y="1956075"/>
            <a:ext cx="4608050" cy="2566445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5400000" dist="38100">
              <a:srgbClr val="000000">
                <a:alpha val="50000"/>
              </a:srgbClr>
            </a:outerShdw>
          </a:effectLst>
        </p:spPr>
      </p:pic>
      <p:sp>
        <p:nvSpPr>
          <p:cNvPr id="113" name="Google Shape;113;p17"/>
          <p:cNvSpPr txBox="1"/>
          <p:nvPr/>
        </p:nvSpPr>
        <p:spPr>
          <a:xfrm>
            <a:off x="7076100" y="4749900"/>
            <a:ext cx="2067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latin typeface="Lexend"/>
                <a:ea typeface="Lexend"/>
                <a:cs typeface="Lexend"/>
                <a:sym typeface="Lexend"/>
              </a:rPr>
              <a:t>Created by </a:t>
            </a:r>
            <a:r>
              <a:rPr lang="en-CA" sz="10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5"/>
              </a:rPr>
              <a:t>Clarissa Yamakita</a:t>
            </a:r>
            <a:endParaRPr sz="1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540000" y="180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They can use this part of the dashboard to …</a:t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0" y="0"/>
            <a:ext cx="360000" cy="5143500"/>
          </a:xfrm>
          <a:prstGeom prst="rect">
            <a:avLst/>
          </a:prstGeom>
          <a:solidFill>
            <a:srgbClr val="3C46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425" y="897175"/>
            <a:ext cx="6555773" cy="3664850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5400000" dist="38100">
              <a:srgbClr val="000000">
                <a:alpha val="50000"/>
              </a:srgbClr>
            </a:outerShdw>
          </a:effectLst>
        </p:spPr>
      </p:pic>
      <p:sp>
        <p:nvSpPr>
          <p:cNvPr id="121" name="Google Shape;121;p18"/>
          <p:cNvSpPr txBox="1"/>
          <p:nvPr/>
        </p:nvSpPr>
        <p:spPr>
          <a:xfrm>
            <a:off x="7076100" y="4749900"/>
            <a:ext cx="2067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latin typeface="Lexend"/>
                <a:ea typeface="Lexend"/>
                <a:cs typeface="Lexend"/>
                <a:sym typeface="Lexend"/>
              </a:rPr>
              <a:t>Created by </a:t>
            </a:r>
            <a:r>
              <a:rPr lang="en-CA" sz="10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Clarissa Yamakita</a:t>
            </a:r>
            <a:endParaRPr sz="1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/>
          <p:nvPr/>
        </p:nvSpPr>
        <p:spPr>
          <a:xfrm>
            <a:off x="0" y="0"/>
            <a:ext cx="360000" cy="5143500"/>
          </a:xfrm>
          <a:prstGeom prst="rect">
            <a:avLst/>
          </a:prstGeom>
          <a:solidFill>
            <a:srgbClr val="3C46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 txBox="1"/>
          <p:nvPr/>
        </p:nvSpPr>
        <p:spPr>
          <a:xfrm>
            <a:off x="5053175" y="3922940"/>
            <a:ext cx="3748800" cy="851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Specific categories could be negative </a:t>
            </a:r>
            <a:r>
              <a:rPr b="1" lang="en-CA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as long as they compensate for each other</a:t>
            </a:r>
            <a:r>
              <a:rPr lang="en-CA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b="1" lang="en-CA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CA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Overall variance should </a:t>
            </a:r>
            <a:r>
              <a:rPr lang="en-CA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remain</a:t>
            </a:r>
            <a:r>
              <a:rPr lang="en-CA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CA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positive</a:t>
            </a:r>
            <a:r>
              <a:rPr lang="en-CA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i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" name="Google Shape;128;p19"/>
          <p:cNvSpPr txBox="1"/>
          <p:nvPr>
            <p:ph type="title"/>
          </p:nvPr>
        </p:nvSpPr>
        <p:spPr>
          <a:xfrm>
            <a:off x="540000" y="180000"/>
            <a:ext cx="84237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600"/>
              <a:t>1. </a:t>
            </a:r>
            <a:r>
              <a:rPr lang="en-CA" sz="2600"/>
              <a:t>Enjoy Life</a:t>
            </a:r>
            <a:r>
              <a:rPr lang="en-CA" sz="2378"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CA" sz="2078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rPr>
              <a:t>Can they buy these groceries?</a:t>
            </a:r>
            <a:endParaRPr sz="2078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 b="0" l="13429" r="12458" t="0"/>
          <a:stretch/>
        </p:blipFill>
        <p:spPr>
          <a:xfrm>
            <a:off x="5136525" y="911975"/>
            <a:ext cx="3665400" cy="27000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114300" rotWithShape="0" algn="bl" dir="5400000" dist="47625">
              <a:srgbClr val="000000">
                <a:alpha val="50000"/>
              </a:srgbClr>
            </a:outerShdw>
          </a:effectLst>
        </p:spPr>
      </p:pic>
      <p:pic>
        <p:nvPicPr>
          <p:cNvPr id="130" name="Google Shape;13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000" y="911975"/>
            <a:ext cx="3872530" cy="287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/>
        </p:nvSpPr>
        <p:spPr>
          <a:xfrm>
            <a:off x="948650" y="3922940"/>
            <a:ext cx="3748800" cy="851400"/>
          </a:xfrm>
          <a:prstGeom prst="rect">
            <a:avLst/>
          </a:prstGeom>
          <a:solidFill>
            <a:srgbClr val="998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It depends</a:t>
            </a:r>
            <a:r>
              <a:rPr lang="en-CA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 Even though they've already gone over the Groceries budget, they still have some left from other categories, like Miscellaneous.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7076100" y="4749900"/>
            <a:ext cx="2067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latin typeface="Lexend"/>
                <a:ea typeface="Lexend"/>
                <a:cs typeface="Lexend"/>
                <a:sym typeface="Lexend"/>
              </a:rPr>
              <a:t>Created by </a:t>
            </a:r>
            <a:r>
              <a:rPr lang="en-CA" sz="10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5"/>
              </a:rPr>
              <a:t>Clarissa Yamakita</a:t>
            </a:r>
            <a:endParaRPr sz="1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/>
          <p:nvPr/>
        </p:nvSpPr>
        <p:spPr>
          <a:xfrm>
            <a:off x="0" y="0"/>
            <a:ext cx="360000" cy="5143500"/>
          </a:xfrm>
          <a:prstGeom prst="rect">
            <a:avLst/>
          </a:prstGeom>
          <a:solidFill>
            <a:srgbClr val="3C46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0"/>
          <p:cNvSpPr txBox="1"/>
          <p:nvPr/>
        </p:nvSpPr>
        <p:spPr>
          <a:xfrm>
            <a:off x="871975" y="3769250"/>
            <a:ext cx="3699900" cy="980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Amounts are </a:t>
            </a:r>
            <a:r>
              <a:rPr b="1" lang="en-CA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accumulated </a:t>
            </a:r>
            <a:r>
              <a:rPr lang="en-CA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over time. If a certain amount isn’t used on a month, it can be </a:t>
            </a:r>
            <a:r>
              <a:rPr b="1" lang="en-CA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carried over</a:t>
            </a:r>
            <a:r>
              <a:rPr lang="en-CA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the future.</a:t>
            </a:r>
            <a:endParaRPr b="1"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20"/>
          <p:cNvSpPr txBox="1"/>
          <p:nvPr>
            <p:ph type="title"/>
          </p:nvPr>
        </p:nvSpPr>
        <p:spPr>
          <a:xfrm>
            <a:off x="540000" y="180000"/>
            <a:ext cx="87606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600"/>
              <a:t>1. Enjoy Life</a:t>
            </a:r>
            <a:r>
              <a:rPr lang="en-CA" sz="2378"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CA" sz="2078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rPr>
              <a:t>Can they book a VR session this weekend?</a:t>
            </a:r>
            <a:endParaRPr sz="2178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5172650" y="900550"/>
            <a:ext cx="3489600" cy="1706100"/>
          </a:xfrm>
          <a:prstGeom prst="rect">
            <a:avLst/>
          </a:prstGeom>
          <a:solidFill>
            <a:srgbClr val="998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 VR gaming session for 2 people + dinner with friends could cost around $200 in total.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Kenji and Mei don’t have enough on their Guilt-Free Family budget this month.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" name="Google Shape;14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2650" y="2783325"/>
            <a:ext cx="3489600" cy="19050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114300" rotWithShape="0" algn="bl" dir="5400000" dist="47625">
              <a:srgbClr val="000000">
                <a:alpha val="50000"/>
              </a:srgbClr>
            </a:outerShdw>
          </a:effectLst>
        </p:spPr>
      </p:pic>
      <p:pic>
        <p:nvPicPr>
          <p:cNvPr id="142" name="Google Shape;14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1975" y="900550"/>
            <a:ext cx="3788700" cy="279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 txBox="1"/>
          <p:nvPr/>
        </p:nvSpPr>
        <p:spPr>
          <a:xfrm>
            <a:off x="7076100" y="4749900"/>
            <a:ext cx="2067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latin typeface="Lexend"/>
                <a:ea typeface="Lexend"/>
                <a:cs typeface="Lexend"/>
                <a:sym typeface="Lexend"/>
              </a:rPr>
              <a:t>Created by </a:t>
            </a:r>
            <a:r>
              <a:rPr lang="en-CA" sz="10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5"/>
              </a:rPr>
              <a:t>Clarissa Yamakita</a:t>
            </a:r>
            <a:endParaRPr sz="1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445383" y="180000"/>
            <a:ext cx="862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CA" sz="2420"/>
              <a:t>And here is where they see their dreams coming true:</a:t>
            </a:r>
            <a:endParaRPr sz="2420"/>
          </a:p>
        </p:txBody>
      </p:sp>
      <p:sp>
        <p:nvSpPr>
          <p:cNvPr id="149" name="Google Shape;149;p21"/>
          <p:cNvSpPr/>
          <p:nvPr/>
        </p:nvSpPr>
        <p:spPr>
          <a:xfrm>
            <a:off x="0" y="0"/>
            <a:ext cx="360000" cy="5143500"/>
          </a:xfrm>
          <a:prstGeom prst="rect">
            <a:avLst/>
          </a:prstGeom>
          <a:solidFill>
            <a:srgbClr val="3C46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5650" y="965525"/>
            <a:ext cx="6646050" cy="3711950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5400000" dist="38100">
              <a:srgbClr val="000000">
                <a:alpha val="50000"/>
              </a:srgbClr>
            </a:outerShdw>
          </a:effectLst>
        </p:spPr>
      </p:pic>
      <p:sp>
        <p:nvSpPr>
          <p:cNvPr id="151" name="Google Shape;151;p21"/>
          <p:cNvSpPr txBox="1"/>
          <p:nvPr/>
        </p:nvSpPr>
        <p:spPr>
          <a:xfrm>
            <a:off x="7076100" y="4749900"/>
            <a:ext cx="2067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latin typeface="Lexend"/>
                <a:ea typeface="Lexend"/>
                <a:cs typeface="Lexend"/>
                <a:sym typeface="Lexend"/>
              </a:rPr>
              <a:t>Created by </a:t>
            </a:r>
            <a:r>
              <a:rPr lang="en-CA" sz="10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Clarissa Yamakita</a:t>
            </a:r>
            <a:endParaRPr sz="1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/>
          <p:nvPr/>
        </p:nvSpPr>
        <p:spPr>
          <a:xfrm>
            <a:off x="0" y="0"/>
            <a:ext cx="360000" cy="5143500"/>
          </a:xfrm>
          <a:prstGeom prst="rect">
            <a:avLst/>
          </a:prstGeom>
          <a:solidFill>
            <a:srgbClr val="3C46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2"/>
          <p:cNvSpPr txBox="1"/>
          <p:nvPr>
            <p:ph type="title"/>
          </p:nvPr>
        </p:nvSpPr>
        <p:spPr>
          <a:xfrm>
            <a:off x="540000" y="180000"/>
            <a:ext cx="84237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600"/>
              <a:t>2</a:t>
            </a:r>
            <a:r>
              <a:rPr lang="en-CA" sz="2600"/>
              <a:t>. Achieve Goals</a:t>
            </a:r>
            <a:r>
              <a:rPr lang="en-CA" sz="2378"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CA" sz="2078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rPr>
              <a:t>Which goals are already funded?</a:t>
            </a:r>
            <a:endParaRPr sz="2078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684075" y="3856575"/>
            <a:ext cx="7133700" cy="538800"/>
          </a:xfrm>
          <a:prstGeom prst="rect">
            <a:avLst/>
          </a:prstGeom>
          <a:solidFill>
            <a:srgbClr val="998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Kenji and Mei have already saved the amount needed for this year's vacation and a laptop.</a:t>
            </a:r>
            <a:endParaRPr i="1" sz="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9" name="Google Shape;15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075" y="1031725"/>
            <a:ext cx="7133699" cy="261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/>
          <p:nvPr/>
        </p:nvSpPr>
        <p:spPr>
          <a:xfrm>
            <a:off x="901800" y="1571700"/>
            <a:ext cx="6503400" cy="707100"/>
          </a:xfrm>
          <a:prstGeom prst="rect">
            <a:avLst/>
          </a:prstGeom>
          <a:noFill/>
          <a:ln cap="flat" cmpd="sng" w="19050">
            <a:solidFill>
              <a:srgbClr val="4B2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150" lIns="65150" spcFirstLastPara="1" rIns="65150" wrap="square" tIns="6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8"/>
          </a:p>
        </p:txBody>
      </p:sp>
      <p:sp>
        <p:nvSpPr>
          <p:cNvPr id="161" name="Google Shape;161;p22"/>
          <p:cNvSpPr txBox="1"/>
          <p:nvPr/>
        </p:nvSpPr>
        <p:spPr>
          <a:xfrm>
            <a:off x="7076100" y="4749900"/>
            <a:ext cx="2067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latin typeface="Lexend"/>
                <a:ea typeface="Lexend"/>
                <a:cs typeface="Lexend"/>
                <a:sym typeface="Lexend"/>
              </a:rPr>
              <a:t>Created by </a:t>
            </a:r>
            <a:r>
              <a:rPr lang="en-CA" sz="10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Clarissa Yamakita</a:t>
            </a:r>
            <a:endParaRPr sz="1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/>
          <p:nvPr/>
        </p:nvSpPr>
        <p:spPr>
          <a:xfrm>
            <a:off x="0" y="0"/>
            <a:ext cx="360000" cy="5143500"/>
          </a:xfrm>
          <a:prstGeom prst="rect">
            <a:avLst/>
          </a:prstGeom>
          <a:solidFill>
            <a:srgbClr val="3C46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3"/>
          <p:cNvSpPr txBox="1"/>
          <p:nvPr>
            <p:ph type="title"/>
          </p:nvPr>
        </p:nvSpPr>
        <p:spPr>
          <a:xfrm>
            <a:off x="540000" y="180000"/>
            <a:ext cx="84237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600"/>
              <a:t>2. Achieve Goals</a:t>
            </a:r>
            <a:r>
              <a:rPr lang="en-CA" sz="2378"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CA" sz="2078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rPr>
              <a:t>When will they be able to buy a car</a:t>
            </a:r>
            <a:r>
              <a:rPr lang="en-CA" sz="2078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078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3"/>
          <p:cNvSpPr txBox="1"/>
          <p:nvPr/>
        </p:nvSpPr>
        <p:spPr>
          <a:xfrm>
            <a:off x="738250" y="3728308"/>
            <a:ext cx="4896900" cy="1014000"/>
          </a:xfrm>
          <a:prstGeom prst="rect">
            <a:avLst/>
          </a:prstGeom>
          <a:solidFill>
            <a:srgbClr val="998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With their current savings progress, they should be able 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to buy a car by February, 2027.</a:t>
            </a:r>
            <a:endParaRPr i="1" sz="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9" name="Google Shape;16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7569" y="3637683"/>
            <a:ext cx="2020200" cy="11046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114300" rotWithShape="0" algn="bl" dir="5400000" dist="47625">
              <a:srgbClr val="000000">
                <a:alpha val="50000"/>
              </a:srgbClr>
            </a:outerShdw>
          </a:effectLst>
        </p:spPr>
      </p:pic>
      <p:pic>
        <p:nvPicPr>
          <p:cNvPr id="170" name="Google Shape;17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075" y="903458"/>
            <a:ext cx="7133699" cy="261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/>
          <p:nvPr/>
        </p:nvSpPr>
        <p:spPr>
          <a:xfrm>
            <a:off x="1363556" y="2154067"/>
            <a:ext cx="6109200" cy="353400"/>
          </a:xfrm>
          <a:prstGeom prst="rect">
            <a:avLst/>
          </a:prstGeom>
          <a:noFill/>
          <a:ln cap="flat" cmpd="sng" w="19050">
            <a:solidFill>
              <a:srgbClr val="4B2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150" lIns="65150" spcFirstLastPara="1" rIns="65150" wrap="square" tIns="6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8"/>
          </a:p>
        </p:txBody>
      </p:sp>
      <p:sp>
        <p:nvSpPr>
          <p:cNvPr id="172" name="Google Shape;172;p23"/>
          <p:cNvSpPr txBox="1"/>
          <p:nvPr/>
        </p:nvSpPr>
        <p:spPr>
          <a:xfrm>
            <a:off x="7076100" y="4749900"/>
            <a:ext cx="2067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latin typeface="Lexend"/>
                <a:ea typeface="Lexend"/>
                <a:cs typeface="Lexend"/>
                <a:sym typeface="Lexend"/>
              </a:rPr>
              <a:t>Created by </a:t>
            </a:r>
            <a:r>
              <a:rPr lang="en-CA" sz="10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5"/>
              </a:rPr>
              <a:t>Clarissa Yamakita</a:t>
            </a:r>
            <a:endParaRPr sz="1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/>
          <p:nvPr/>
        </p:nvSpPr>
        <p:spPr>
          <a:xfrm>
            <a:off x="0" y="0"/>
            <a:ext cx="360000" cy="5143500"/>
          </a:xfrm>
          <a:prstGeom prst="rect">
            <a:avLst/>
          </a:prstGeom>
          <a:solidFill>
            <a:srgbClr val="3C46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4"/>
          <p:cNvSpPr txBox="1"/>
          <p:nvPr>
            <p:ph type="title"/>
          </p:nvPr>
        </p:nvSpPr>
        <p:spPr>
          <a:xfrm>
            <a:off x="540000" y="180000"/>
            <a:ext cx="84237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600"/>
              <a:t>3</a:t>
            </a:r>
            <a:r>
              <a:rPr lang="en-CA" sz="2600"/>
              <a:t>. Build Wealth</a:t>
            </a:r>
            <a:r>
              <a:rPr lang="en-CA" sz="2378"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CA" sz="2078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r>
              <a:rPr lang="en-CA" sz="2078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rPr>
              <a:t>ill they be able to retire at 65</a:t>
            </a:r>
            <a:r>
              <a:rPr lang="en-CA" sz="2078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078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4"/>
          <p:cNvSpPr txBox="1"/>
          <p:nvPr/>
        </p:nvSpPr>
        <p:spPr>
          <a:xfrm>
            <a:off x="5327300" y="3225075"/>
            <a:ext cx="3511800" cy="1362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CA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4% withdrawal rule</a:t>
            </a:r>
            <a:r>
              <a:rPr lang="en-CA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says you can safely withdraw about 4% of your portfolio per year without running out of money — that's how $2.1M becomes $85,153/year.</a:t>
            </a:r>
            <a:endParaRPr i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4"/>
          <p:cNvSpPr txBox="1"/>
          <p:nvPr/>
        </p:nvSpPr>
        <p:spPr>
          <a:xfrm>
            <a:off x="743300" y="3225075"/>
            <a:ext cx="4382100" cy="1362600"/>
          </a:xfrm>
          <a:prstGeom prst="rect">
            <a:avLst/>
          </a:prstGeom>
          <a:solidFill>
            <a:srgbClr val="998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b="1" lang="en-CA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33 years, </a:t>
            </a:r>
            <a:r>
              <a:rPr lang="en-CA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Kenji and Mei could have enough to live off only from their investments.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They would have about </a:t>
            </a:r>
            <a:r>
              <a:rPr b="1" lang="en-CA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$2.1M </a:t>
            </a:r>
            <a:r>
              <a:rPr lang="en-CA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considering an average interest rate of 7% and a monthly contribution of $1,000 to their current investments.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" name="Google Shape;18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275" y="903450"/>
            <a:ext cx="4382074" cy="1992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7299" y="941313"/>
            <a:ext cx="3511800" cy="19170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114300" rotWithShape="0" algn="bl" dir="5400000" dist="47625">
              <a:srgbClr val="000000">
                <a:alpha val="50000"/>
              </a:srgbClr>
            </a:outerShdw>
          </a:effectLst>
        </p:spPr>
      </p:pic>
      <p:sp>
        <p:nvSpPr>
          <p:cNvPr id="183" name="Google Shape;183;p24"/>
          <p:cNvSpPr txBox="1"/>
          <p:nvPr/>
        </p:nvSpPr>
        <p:spPr>
          <a:xfrm>
            <a:off x="7076100" y="4749900"/>
            <a:ext cx="2067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latin typeface="Lexend"/>
                <a:ea typeface="Lexend"/>
                <a:cs typeface="Lexend"/>
                <a:sym typeface="Lexend"/>
              </a:rPr>
              <a:t>Created by </a:t>
            </a:r>
            <a:r>
              <a:rPr lang="en-CA" sz="10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5"/>
              </a:rPr>
              <a:t>Clarissa Yamakita</a:t>
            </a:r>
            <a:endParaRPr sz="1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/>
          <p:nvPr/>
        </p:nvSpPr>
        <p:spPr>
          <a:xfrm>
            <a:off x="0" y="0"/>
            <a:ext cx="360000" cy="5143500"/>
          </a:xfrm>
          <a:prstGeom prst="rect">
            <a:avLst/>
          </a:prstGeom>
          <a:solidFill>
            <a:srgbClr val="3C46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5"/>
          <p:cNvSpPr txBox="1"/>
          <p:nvPr>
            <p:ph type="title"/>
          </p:nvPr>
        </p:nvSpPr>
        <p:spPr>
          <a:xfrm>
            <a:off x="540000" y="180000"/>
            <a:ext cx="84237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600"/>
              <a:t>3. Build Wealth</a:t>
            </a:r>
            <a:r>
              <a:rPr lang="en-CA" sz="2378"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CA" sz="2078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rPr>
              <a:t>What will be their income once they retire?</a:t>
            </a:r>
            <a:endParaRPr sz="2078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2449225" y="3202400"/>
            <a:ext cx="4382100" cy="1410900"/>
          </a:xfrm>
          <a:prstGeom prst="rect">
            <a:avLst/>
          </a:prstGeom>
          <a:solidFill>
            <a:srgbClr val="998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Good news</a:t>
            </a:r>
            <a:r>
              <a:rPr lang="en-CA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: $7,096/month almost matches Kenji's and Mei’s current paycheck of $7,142 — their retirement income from investments alone could fully replace their current salaries.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1" name="Google Shape;19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7300" y="903450"/>
            <a:ext cx="3506400" cy="19140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114300" rotWithShape="0" algn="bl" dir="5400000" dist="47625">
              <a:srgbClr val="000000">
                <a:alpha val="50000"/>
              </a:srgbClr>
            </a:outerShdw>
          </a:effectLst>
        </p:spPr>
      </p:pic>
      <p:pic>
        <p:nvPicPr>
          <p:cNvPr id="192" name="Google Shape;19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275" y="903450"/>
            <a:ext cx="4382074" cy="1992717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5"/>
          <p:cNvSpPr txBox="1"/>
          <p:nvPr/>
        </p:nvSpPr>
        <p:spPr>
          <a:xfrm>
            <a:off x="7076100" y="4749900"/>
            <a:ext cx="2067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latin typeface="Lexend"/>
                <a:ea typeface="Lexend"/>
                <a:cs typeface="Lexend"/>
                <a:sym typeface="Lexend"/>
              </a:rPr>
              <a:t>Created by </a:t>
            </a:r>
            <a:r>
              <a:rPr lang="en-CA" sz="10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5"/>
              </a:rPr>
              <a:t>Clarissa Yamakita</a:t>
            </a:r>
            <a:endParaRPr sz="1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