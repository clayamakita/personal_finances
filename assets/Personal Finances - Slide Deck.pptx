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Lexend SemiBold"/>
      <p:regular r:id="rId20"/>
      <p:bold r:id="rId21"/>
    </p:embeddedFont>
    <p:embeddedFont>
      <p:font typeface="Lexend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exendSemiBold-regular.fntdata"/><Relationship Id="rId11" Type="http://schemas.openxmlformats.org/officeDocument/2006/relationships/slide" Target="slides/slide6.xml"/><Relationship Id="rId22" Type="http://schemas.openxmlformats.org/officeDocument/2006/relationships/font" Target="fonts/Lexend-regular.fntdata"/><Relationship Id="rId10" Type="http://schemas.openxmlformats.org/officeDocument/2006/relationships/slide" Target="slides/slide5.xml"/><Relationship Id="rId21" Type="http://schemas.openxmlformats.org/officeDocument/2006/relationships/font" Target="fonts/LexendSemiBold-bold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font" Target="fonts/Lexend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e82f3b34b8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e82f3b34b8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ef0df29bf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ef0df29bf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e87d095e96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e87d095e96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87d095e96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e87d095e96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f0df29bf1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ef0df29bf1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ed8e927e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ed8e927e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e8c569b5bc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e8c569b5bc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f25a16e44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f25a16e44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17a855a6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17a855a6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ef57d32f4d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ef57d32f4d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ef57d32f4d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ef57d32f4d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ef57d32f4d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ef57d32f4d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8b9ee62f19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8b9ee62f19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h6ea71d177ce6e642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h6ea71d177ce6e642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63550"/>
            <a:ext cx="8520600" cy="396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2412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F4F7FE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393939"/>
              </a:buClr>
              <a:buSzPts val="2800"/>
              <a:buFont typeface="Lexend SemiBold"/>
              <a:buNone/>
              <a:defRPr sz="2800">
                <a:solidFill>
                  <a:srgbClr val="393939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exend"/>
              <a:buNone/>
              <a:defRPr b="1" sz="28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exend"/>
              <a:buNone/>
              <a:defRPr b="1" sz="28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exend"/>
              <a:buNone/>
              <a:defRPr b="1" sz="28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exend"/>
              <a:buNone/>
              <a:defRPr b="1" sz="28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exend"/>
              <a:buNone/>
              <a:defRPr b="1" sz="28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exend"/>
              <a:buNone/>
              <a:defRPr b="1" sz="28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exend"/>
              <a:buNone/>
              <a:defRPr b="1" sz="28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exend"/>
              <a:buNone/>
              <a:defRPr b="1" sz="28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973701"/>
            <a:ext cx="8520600" cy="368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Relationship Id="rId4" Type="http://schemas.openxmlformats.org/officeDocument/2006/relationships/hyperlink" Target="https://github.com/clayamakita/personal_finances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hyperlink" Target="https://github.com/clayamakita/personal_finances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www.iwillteachyoutoberich.com/conscious-spending-basics/" TargetMode="External"/><Relationship Id="rId4" Type="http://schemas.openxmlformats.org/officeDocument/2006/relationships/hyperlink" Target="https://github.com/clayamakita/personal_finances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hyperlink" Target="https://github.com/clayamakita/personal_finances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hyperlink" Target="https://github.com/clayamakita/personal_finances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hyperlink" Target="https://github.com/clayamakita/personal_finances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hyperlink" Target="https://github.com/clayamakita/personal_finances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image" Target="../media/image1.png"/><Relationship Id="rId5" Type="http://schemas.openxmlformats.org/officeDocument/2006/relationships/hyperlink" Target="https://github.com/clayamakita/personal_finances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5.png"/><Relationship Id="rId4" Type="http://schemas.openxmlformats.org/officeDocument/2006/relationships/hyperlink" Target="https://github.com/clayamakita/personal_finances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hyperlink" Target="https://github.com/clayamakita/personal_finances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8.png"/><Relationship Id="rId5" Type="http://schemas.openxmlformats.org/officeDocument/2006/relationships/hyperlink" Target="https://github.com/clayamakita/personal_finances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Relationship Id="rId4" Type="http://schemas.openxmlformats.org/officeDocument/2006/relationships/image" Target="../media/image2.png"/><Relationship Id="rId5" Type="http://schemas.openxmlformats.org/officeDocument/2006/relationships/hyperlink" Target="https://github.com/clayamakita/personal_finances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hyperlink" Target="https://github.com/clayamakita/personal_finances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Relationship Id="rId5" Type="http://schemas.openxmlformats.org/officeDocument/2006/relationships/hyperlink" Target="https://github.com/clayamakita/personal_financ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title"/>
          </p:nvPr>
        </p:nvSpPr>
        <p:spPr>
          <a:xfrm>
            <a:off x="311700" y="241200"/>
            <a:ext cx="8520600" cy="106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/>
              <a:t>Personal Finances Analytics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CA" sz="2400">
                <a:solidFill>
                  <a:srgbClr val="666666"/>
                </a:solidFill>
              </a:rPr>
              <a:t>Invest More or Live More?</a:t>
            </a:r>
            <a:endParaRPr i="1" sz="2400">
              <a:solidFill>
                <a:srgbClr val="666666"/>
              </a:solidFill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99050" y="1482300"/>
            <a:ext cx="5537700" cy="30231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47625">
              <a:srgbClr val="000000">
                <a:alpha val="50000"/>
              </a:srgbClr>
            </a:outerShdw>
          </a:effectLst>
        </p:spPr>
      </p:pic>
      <p:sp>
        <p:nvSpPr>
          <p:cNvPr id="56" name="Google Shape;56;p13"/>
          <p:cNvSpPr txBox="1"/>
          <p:nvPr/>
        </p:nvSpPr>
        <p:spPr>
          <a:xfrm>
            <a:off x="5057988" y="4749900"/>
            <a:ext cx="39963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Created by </a:t>
            </a:r>
            <a:r>
              <a:rPr lang="en-CA" sz="1000" u="sng">
                <a:solidFill>
                  <a:schemeClr val="hlink"/>
                </a:solidFill>
                <a:latin typeface="Lexend"/>
                <a:ea typeface="Lexend"/>
                <a:cs typeface="Lexend"/>
                <a:sym typeface="Lexend"/>
                <a:hlinkClick r:id="rId4"/>
              </a:rPr>
              <a:t>Clarissa Yamakita</a:t>
            </a: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 · Images generated with AI</a:t>
            </a:r>
            <a:endParaRPr sz="1000"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589100" y="1025625"/>
            <a:ext cx="3936300" cy="3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CA" sz="1500">
                <a:latin typeface="Lexend"/>
                <a:ea typeface="Lexend"/>
                <a:cs typeface="Lexend"/>
                <a:sym typeface="Lexend"/>
              </a:rPr>
              <a:t>This is </a:t>
            </a:r>
            <a:r>
              <a:rPr b="1" lang="en-CA" sz="1500">
                <a:latin typeface="Lexend"/>
                <a:ea typeface="Lexend"/>
                <a:cs typeface="Lexend"/>
                <a:sym typeface="Lexend"/>
              </a:rPr>
              <a:t>Kenji</a:t>
            </a:r>
            <a:r>
              <a:rPr lang="en-CA" sz="1500">
                <a:latin typeface="Lexend"/>
                <a:ea typeface="Lexend"/>
                <a:cs typeface="Lexend"/>
                <a:sym typeface="Lexend"/>
              </a:rPr>
              <a:t>, an avid gamer who also applies his problem solving skills in his role as a product manager.</a:t>
            </a:r>
            <a:endParaRPr sz="1500">
              <a:latin typeface="Lexend"/>
              <a:ea typeface="Lexend"/>
              <a:cs typeface="Lexend"/>
              <a:sym typeface="Lexend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CA" sz="1500">
                <a:latin typeface="Lexend"/>
                <a:ea typeface="Lexend"/>
                <a:cs typeface="Lexend"/>
                <a:sym typeface="Lexend"/>
              </a:rPr>
              <a:t>And this is </a:t>
            </a:r>
            <a:r>
              <a:rPr b="1" lang="en-CA" sz="1500">
                <a:latin typeface="Lexend"/>
                <a:ea typeface="Lexend"/>
                <a:cs typeface="Lexend"/>
                <a:sym typeface="Lexend"/>
              </a:rPr>
              <a:t>Mei</a:t>
            </a:r>
            <a:r>
              <a:rPr lang="en-CA" sz="1500">
                <a:latin typeface="Lexend"/>
                <a:ea typeface="Lexend"/>
                <a:cs typeface="Lexend"/>
                <a:sym typeface="Lexend"/>
              </a:rPr>
              <a:t>, a sound designer who brings music into all aspects of her life.</a:t>
            </a:r>
            <a:endParaRPr sz="1500">
              <a:latin typeface="Lexend"/>
              <a:ea typeface="Lexend"/>
              <a:cs typeface="Lexend"/>
              <a:sym typeface="Lexend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CA" sz="1500">
                <a:latin typeface="Lexend"/>
                <a:ea typeface="Lexend"/>
                <a:cs typeface="Lexend"/>
                <a:sym typeface="Lexend"/>
              </a:rPr>
              <a:t>They're a couple </a:t>
            </a:r>
            <a:r>
              <a:rPr b="1" lang="en-CA" sz="1500">
                <a:latin typeface="Lexend"/>
                <a:ea typeface="Lexend"/>
                <a:cs typeface="Lexend"/>
                <a:sym typeface="Lexend"/>
              </a:rPr>
              <a:t>stuck in a common money debate</a:t>
            </a:r>
            <a:r>
              <a:rPr lang="en-CA" sz="1500">
                <a:latin typeface="Lexend"/>
                <a:ea typeface="Lexend"/>
                <a:cs typeface="Lexend"/>
                <a:sym typeface="Lexend"/>
              </a:rPr>
              <a:t>. One wants to invest more for the future, while the other wants to enjoy life today. </a:t>
            </a:r>
            <a:endParaRPr sz="1500">
              <a:latin typeface="Lexend"/>
              <a:ea typeface="Lexend"/>
              <a:cs typeface="Lexend"/>
              <a:sym typeface="Lexend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CA" sz="1500">
                <a:latin typeface="Lexend"/>
                <a:ea typeface="Lexend"/>
                <a:cs typeface="Lexend"/>
                <a:sym typeface="Lexend"/>
              </a:rPr>
              <a:t>Neither is wrong — they just need a plan that makes room for both.</a:t>
            </a:r>
            <a:endParaRPr sz="1500"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62" name="Google Shape;62;p14"/>
          <p:cNvSpPr/>
          <p:nvPr/>
        </p:nvSpPr>
        <p:spPr>
          <a:xfrm>
            <a:off x="0" y="0"/>
            <a:ext cx="360000" cy="5143500"/>
          </a:xfrm>
          <a:prstGeom prst="rect">
            <a:avLst/>
          </a:prstGeom>
          <a:solidFill>
            <a:srgbClr val="3C46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3" name="Google Shape;63;p14" title="Gemini_Generated_Image_xcuxq6xcuxq6xcux.png"/>
          <p:cNvPicPr preferRelativeResize="0"/>
          <p:nvPr/>
        </p:nvPicPr>
        <p:blipFill rotWithShape="1">
          <a:blip r:embed="rId3">
            <a:alphaModFix/>
          </a:blip>
          <a:srcRect b="0" l="12336" r="4143" t="0"/>
          <a:stretch/>
        </p:blipFill>
        <p:spPr>
          <a:xfrm>
            <a:off x="4754500" y="1254314"/>
            <a:ext cx="4042500" cy="26403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47625">
              <a:srgbClr val="000000">
                <a:alpha val="50000"/>
              </a:srgbClr>
            </a:outerShdw>
          </a:effectLst>
        </p:spPr>
      </p:pic>
      <p:sp>
        <p:nvSpPr>
          <p:cNvPr id="64" name="Google Shape;64;p14"/>
          <p:cNvSpPr txBox="1"/>
          <p:nvPr>
            <p:ph type="title"/>
          </p:nvPr>
        </p:nvSpPr>
        <p:spPr>
          <a:xfrm>
            <a:off x="540000" y="180000"/>
            <a:ext cx="8256900" cy="55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/>
              <a:t>Meet our </a:t>
            </a:r>
            <a:r>
              <a:rPr lang="en-CA"/>
              <a:t>protagonists</a:t>
            </a:r>
            <a:r>
              <a:rPr lang="en-CA"/>
              <a:t> — and their dilemma</a:t>
            </a:r>
            <a:endParaRPr/>
          </a:p>
        </p:txBody>
      </p:sp>
      <p:sp>
        <p:nvSpPr>
          <p:cNvPr id="65" name="Google Shape;65;p14"/>
          <p:cNvSpPr txBox="1"/>
          <p:nvPr/>
        </p:nvSpPr>
        <p:spPr>
          <a:xfrm>
            <a:off x="5057988" y="4749900"/>
            <a:ext cx="39963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Created by </a:t>
            </a:r>
            <a:r>
              <a:rPr lang="en-CA" sz="1000" u="sng">
                <a:solidFill>
                  <a:schemeClr val="hlink"/>
                </a:solidFill>
                <a:latin typeface="Lexend"/>
                <a:ea typeface="Lexend"/>
                <a:cs typeface="Lexend"/>
                <a:sym typeface="Lexend"/>
                <a:hlinkClick r:id="rId4"/>
              </a:rPr>
              <a:t>Clarissa Yamakita</a:t>
            </a: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 · Images generated with AI</a:t>
            </a:r>
            <a:endParaRPr sz="1000"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540000" y="180000"/>
            <a:ext cx="81612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/>
              <a:t>So how do they make room for both?</a:t>
            </a:r>
            <a:endParaRPr/>
          </a:p>
        </p:txBody>
      </p:sp>
      <p:sp>
        <p:nvSpPr>
          <p:cNvPr id="71" name="Google Shape;71;p15"/>
          <p:cNvSpPr txBox="1"/>
          <p:nvPr>
            <p:ph idx="1" type="body"/>
          </p:nvPr>
        </p:nvSpPr>
        <p:spPr>
          <a:xfrm>
            <a:off x="540000" y="863550"/>
            <a:ext cx="8313900" cy="38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CA" sz="1500">
                <a:latin typeface="Lexend"/>
                <a:ea typeface="Lexend"/>
                <a:cs typeface="Lexend"/>
                <a:sym typeface="Lexend"/>
              </a:rPr>
              <a:t>Apply </a:t>
            </a:r>
            <a:r>
              <a:rPr lang="en-CA" sz="1500" u="sng">
                <a:solidFill>
                  <a:schemeClr val="hlink"/>
                </a:solidFill>
                <a:latin typeface="Lexend"/>
                <a:ea typeface="Lexend"/>
                <a:cs typeface="Lexend"/>
                <a:sym typeface="Lexend"/>
                <a:hlinkClick r:id="rId3"/>
              </a:rPr>
              <a:t>Conscious Spending Plan* </a:t>
            </a:r>
            <a:r>
              <a:rPr lang="en-CA" sz="1500">
                <a:latin typeface="Lexend"/>
                <a:ea typeface="Lexend"/>
                <a:cs typeface="Lexend"/>
                <a:sym typeface="Lexend"/>
              </a:rPr>
              <a:t>framework and allocate take-home pay:</a:t>
            </a:r>
            <a:endParaRPr sz="1500"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0" y="0"/>
            <a:ext cx="360000" cy="5143500"/>
          </a:xfrm>
          <a:prstGeom prst="rect">
            <a:avLst/>
          </a:prstGeom>
          <a:solidFill>
            <a:srgbClr val="3C46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5"/>
          <p:cNvSpPr/>
          <p:nvPr/>
        </p:nvSpPr>
        <p:spPr>
          <a:xfrm>
            <a:off x="857297" y="1936592"/>
            <a:ext cx="1800000" cy="536400"/>
          </a:xfrm>
          <a:prstGeom prst="roundRect">
            <a:avLst>
              <a:gd fmla="val 16667" name="adj"/>
            </a:avLst>
          </a:prstGeom>
          <a:solidFill>
            <a:srgbClr val="775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Fixed Costs</a:t>
            </a:r>
            <a:endParaRPr sz="12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74" name="Google Shape;74;p15"/>
          <p:cNvSpPr/>
          <p:nvPr/>
        </p:nvSpPr>
        <p:spPr>
          <a:xfrm>
            <a:off x="2929522" y="1936592"/>
            <a:ext cx="3954600" cy="536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100">
                <a:latin typeface="Lexend"/>
                <a:ea typeface="Lexend"/>
                <a:cs typeface="Lexend"/>
                <a:sym typeface="Lexend"/>
              </a:rPr>
              <a:t>What you need to live on a month </a:t>
            </a:r>
            <a:endParaRPr sz="1100">
              <a:latin typeface="Lexend"/>
              <a:ea typeface="Lexend"/>
              <a:cs typeface="Lexend"/>
              <a:sym typeface="Lexen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100">
                <a:latin typeface="Lexend"/>
                <a:ea typeface="Lexend"/>
                <a:cs typeface="Lexend"/>
                <a:sym typeface="Lexend"/>
              </a:rPr>
              <a:t>(rent, utilities, groceries, transportation)</a:t>
            </a:r>
            <a:endParaRPr sz="1100"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857297" y="4059380"/>
            <a:ext cx="1800000" cy="536400"/>
          </a:xfrm>
          <a:prstGeom prst="roundRect">
            <a:avLst>
              <a:gd fmla="val 16667" name="adj"/>
            </a:avLst>
          </a:prstGeom>
          <a:solidFill>
            <a:srgbClr val="775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Guilt-Free</a:t>
            </a:r>
            <a:endParaRPr sz="12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857297" y="2644188"/>
            <a:ext cx="1800000" cy="536400"/>
          </a:xfrm>
          <a:prstGeom prst="roundRect">
            <a:avLst>
              <a:gd fmla="val 16667" name="adj"/>
            </a:avLst>
          </a:prstGeom>
          <a:solidFill>
            <a:srgbClr val="775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Savings</a:t>
            </a:r>
            <a:endParaRPr sz="12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857297" y="3351784"/>
            <a:ext cx="1800000" cy="536400"/>
          </a:xfrm>
          <a:prstGeom prst="roundRect">
            <a:avLst>
              <a:gd fmla="val 16667" name="adj"/>
            </a:avLst>
          </a:prstGeom>
          <a:solidFill>
            <a:srgbClr val="775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Investments</a:t>
            </a:r>
            <a:endParaRPr sz="12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2929522" y="2644088"/>
            <a:ext cx="3954600" cy="536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100">
                <a:latin typeface="Lexend"/>
                <a:ea typeface="Lexend"/>
                <a:cs typeface="Lexend"/>
                <a:sym typeface="Lexend"/>
              </a:rPr>
              <a:t>Money you’re going to use in 1 to 5 years </a:t>
            </a:r>
            <a:endParaRPr sz="1100">
              <a:latin typeface="Lexend"/>
              <a:ea typeface="Lexend"/>
              <a:cs typeface="Lexend"/>
              <a:sym typeface="Lexen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100">
                <a:latin typeface="Lexend"/>
                <a:ea typeface="Lexend"/>
                <a:cs typeface="Lexend"/>
                <a:sym typeface="Lexend"/>
              </a:rPr>
              <a:t>(emergency fund, vacation, car)</a:t>
            </a:r>
            <a:endParaRPr sz="1100"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2929522" y="3351584"/>
            <a:ext cx="3954600" cy="536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100">
                <a:latin typeface="Lexend"/>
                <a:ea typeface="Lexend"/>
                <a:cs typeface="Lexend"/>
                <a:sym typeface="Lexend"/>
              </a:rPr>
              <a:t>Wealth building </a:t>
            </a:r>
            <a:endParaRPr sz="1100">
              <a:latin typeface="Lexend"/>
              <a:ea typeface="Lexend"/>
              <a:cs typeface="Lexend"/>
              <a:sym typeface="Lexen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100">
                <a:latin typeface="Lexend"/>
                <a:ea typeface="Lexend"/>
                <a:cs typeface="Lexend"/>
                <a:sym typeface="Lexend"/>
              </a:rPr>
              <a:t>(TFSA, RRSP, non-registered accounts)</a:t>
            </a:r>
            <a:endParaRPr sz="1100"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80" name="Google Shape;80;p15"/>
          <p:cNvSpPr/>
          <p:nvPr/>
        </p:nvSpPr>
        <p:spPr>
          <a:xfrm>
            <a:off x="2929522" y="4059080"/>
            <a:ext cx="3954600" cy="536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100">
                <a:latin typeface="Lexend"/>
                <a:ea typeface="Lexend"/>
                <a:cs typeface="Lexend"/>
                <a:sym typeface="Lexend"/>
              </a:rPr>
              <a:t>What you love to do </a:t>
            </a:r>
            <a:endParaRPr sz="1100">
              <a:latin typeface="Lexend"/>
              <a:ea typeface="Lexend"/>
              <a:cs typeface="Lexend"/>
              <a:sym typeface="Lexen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100">
                <a:latin typeface="Lexend"/>
                <a:ea typeface="Lexend"/>
                <a:cs typeface="Lexend"/>
                <a:sym typeface="Lexend"/>
              </a:rPr>
              <a:t>(travel, eating out, clothes, hobbies)</a:t>
            </a:r>
            <a:endParaRPr sz="1100"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81" name="Google Shape;81;p15"/>
          <p:cNvSpPr/>
          <p:nvPr/>
        </p:nvSpPr>
        <p:spPr>
          <a:xfrm>
            <a:off x="7156347" y="1936592"/>
            <a:ext cx="1422300" cy="5364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1000"/>
              </a:spcAft>
              <a:buNone/>
            </a:pPr>
            <a:r>
              <a:rPr lang="en-CA" sz="11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50 - 60%</a:t>
            </a:r>
            <a:endParaRPr sz="11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82" name="Google Shape;82;p15"/>
          <p:cNvSpPr txBox="1"/>
          <p:nvPr/>
        </p:nvSpPr>
        <p:spPr>
          <a:xfrm>
            <a:off x="948472" y="1499909"/>
            <a:ext cx="1422300" cy="3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>
                <a:solidFill>
                  <a:schemeClr val="dk2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Type</a:t>
            </a:r>
            <a:endParaRPr sz="1200">
              <a:solidFill>
                <a:schemeClr val="dk2"/>
              </a:solidFill>
              <a:latin typeface="Lexend SemiBold"/>
              <a:ea typeface="Lexend SemiBold"/>
              <a:cs typeface="Lexend SemiBold"/>
              <a:sym typeface="Lexend SemiBold"/>
            </a:endParaRPr>
          </a:p>
        </p:txBody>
      </p:sp>
      <p:sp>
        <p:nvSpPr>
          <p:cNvPr id="83" name="Google Shape;83;p15"/>
          <p:cNvSpPr txBox="1"/>
          <p:nvPr/>
        </p:nvSpPr>
        <p:spPr>
          <a:xfrm>
            <a:off x="4195672" y="1499909"/>
            <a:ext cx="1422300" cy="3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>
                <a:solidFill>
                  <a:schemeClr val="dk2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Description</a:t>
            </a:r>
            <a:endParaRPr sz="1200">
              <a:solidFill>
                <a:schemeClr val="dk2"/>
              </a:solidFill>
              <a:latin typeface="Lexend SemiBold"/>
              <a:ea typeface="Lexend SemiBold"/>
              <a:cs typeface="Lexend SemiBold"/>
              <a:sym typeface="Lexend SemiBold"/>
            </a:endParaRPr>
          </a:p>
        </p:txBody>
      </p:sp>
      <p:sp>
        <p:nvSpPr>
          <p:cNvPr id="84" name="Google Shape;84;p15"/>
          <p:cNvSpPr txBox="1"/>
          <p:nvPr/>
        </p:nvSpPr>
        <p:spPr>
          <a:xfrm>
            <a:off x="7033797" y="1499909"/>
            <a:ext cx="1667400" cy="38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>
                <a:solidFill>
                  <a:schemeClr val="dk2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% T</a:t>
            </a:r>
            <a:r>
              <a:rPr lang="en-CA" sz="1200">
                <a:solidFill>
                  <a:schemeClr val="dk2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ake-Home</a:t>
            </a:r>
            <a:r>
              <a:rPr lang="en-CA" sz="1200">
                <a:solidFill>
                  <a:schemeClr val="dk2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 Pay</a:t>
            </a:r>
            <a:endParaRPr sz="1200">
              <a:solidFill>
                <a:schemeClr val="dk2"/>
              </a:solidFill>
              <a:latin typeface="Lexend SemiBold"/>
              <a:ea typeface="Lexend SemiBold"/>
              <a:cs typeface="Lexend SemiBold"/>
              <a:sym typeface="Lexend SemiBold"/>
            </a:endParaRPr>
          </a:p>
        </p:txBody>
      </p:sp>
      <p:sp>
        <p:nvSpPr>
          <p:cNvPr id="85" name="Google Shape;85;p15"/>
          <p:cNvSpPr/>
          <p:nvPr/>
        </p:nvSpPr>
        <p:spPr>
          <a:xfrm>
            <a:off x="7156347" y="2644088"/>
            <a:ext cx="1422300" cy="5364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1000"/>
              </a:spcAft>
              <a:buNone/>
            </a:pPr>
            <a:r>
              <a:rPr lang="en-CA" sz="11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5 - 10%</a:t>
            </a:r>
            <a:endParaRPr sz="11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86" name="Google Shape;86;p15"/>
          <p:cNvSpPr/>
          <p:nvPr/>
        </p:nvSpPr>
        <p:spPr>
          <a:xfrm>
            <a:off x="7156347" y="3351584"/>
            <a:ext cx="1422300" cy="5364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1000"/>
              </a:spcAft>
              <a:buNone/>
            </a:pPr>
            <a:r>
              <a:rPr lang="en-CA" sz="11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5 - 10%</a:t>
            </a:r>
            <a:endParaRPr sz="11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87" name="Google Shape;87;p15"/>
          <p:cNvSpPr/>
          <p:nvPr/>
        </p:nvSpPr>
        <p:spPr>
          <a:xfrm>
            <a:off x="7156347" y="4059080"/>
            <a:ext cx="1422300" cy="5364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1000"/>
              </a:spcAft>
              <a:buNone/>
            </a:pPr>
            <a:r>
              <a:rPr lang="en-CA" sz="11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2</a:t>
            </a:r>
            <a:r>
              <a:rPr lang="en-CA" sz="11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0 - 35%</a:t>
            </a:r>
            <a:endParaRPr sz="11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88" name="Google Shape;88;p15"/>
          <p:cNvSpPr txBox="1"/>
          <p:nvPr/>
        </p:nvSpPr>
        <p:spPr>
          <a:xfrm>
            <a:off x="5057988" y="4749900"/>
            <a:ext cx="39963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Created by </a:t>
            </a:r>
            <a:r>
              <a:rPr lang="en-CA" sz="1000" u="sng">
                <a:solidFill>
                  <a:schemeClr val="hlink"/>
                </a:solidFill>
                <a:latin typeface="Lexend"/>
                <a:ea typeface="Lexend"/>
                <a:cs typeface="Lexend"/>
                <a:sym typeface="Lexend"/>
                <a:hlinkClick r:id="rId4"/>
              </a:rPr>
              <a:t>Clarissa Yamakita</a:t>
            </a: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 · Images generated with AI</a:t>
            </a:r>
            <a:endParaRPr sz="1000"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6"/>
          <p:cNvSpPr/>
          <p:nvPr/>
        </p:nvSpPr>
        <p:spPr>
          <a:xfrm>
            <a:off x="2062647" y="1471332"/>
            <a:ext cx="5672100" cy="716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162601" lvl="0" marL="388800" rtl="0" algn="l">
              <a:spcBef>
                <a:spcPts val="1000"/>
              </a:spcBef>
              <a:spcAft>
                <a:spcPts val="0"/>
              </a:spcAft>
              <a:buSzPts val="1200"/>
              <a:buFont typeface="Lexend"/>
              <a:buChar char="➔"/>
            </a:pPr>
            <a:r>
              <a:rPr lang="en-CA" sz="1200">
                <a:latin typeface="Lexend"/>
                <a:ea typeface="Lexend"/>
                <a:cs typeface="Lexend"/>
                <a:sym typeface="Lexend"/>
              </a:rPr>
              <a:t>Can we </a:t>
            </a:r>
            <a:r>
              <a:rPr lang="en-CA" sz="1200">
                <a:latin typeface="Lexend"/>
                <a:ea typeface="Lexend"/>
                <a:cs typeface="Lexend"/>
                <a:sym typeface="Lexend"/>
              </a:rPr>
              <a:t>afford</a:t>
            </a:r>
            <a:r>
              <a:rPr lang="en-CA" sz="1200">
                <a:latin typeface="Lexend"/>
                <a:ea typeface="Lexend"/>
                <a:cs typeface="Lexend"/>
                <a:sym typeface="Lexend"/>
              </a:rPr>
              <a:t> these groceries?</a:t>
            </a:r>
            <a:endParaRPr sz="1200">
              <a:latin typeface="Lexend"/>
              <a:ea typeface="Lexend"/>
              <a:cs typeface="Lexend"/>
              <a:sym typeface="Lexend"/>
            </a:endParaRPr>
          </a:p>
          <a:p>
            <a:pPr indent="-162601" lvl="0" marL="388800" rtl="0" algn="l">
              <a:spcBef>
                <a:spcPts val="1000"/>
              </a:spcBef>
              <a:spcAft>
                <a:spcPts val="1000"/>
              </a:spcAft>
              <a:buSzPts val="1200"/>
              <a:buFont typeface="Lexend"/>
              <a:buChar char="➔"/>
            </a:pPr>
            <a:r>
              <a:rPr lang="en-CA" sz="1200">
                <a:latin typeface="Lexend"/>
                <a:ea typeface="Lexend"/>
                <a:cs typeface="Lexend"/>
                <a:sym typeface="Lexend"/>
              </a:rPr>
              <a:t>Can we book a VR session this weekend?</a:t>
            </a:r>
            <a:endParaRPr sz="1200"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2062647" y="1089843"/>
            <a:ext cx="5673600" cy="386400"/>
          </a:xfrm>
          <a:prstGeom prst="roundRect">
            <a:avLst>
              <a:gd fmla="val 16667" name="adj"/>
            </a:avLst>
          </a:prstGeom>
          <a:solidFill>
            <a:srgbClr val="775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  1. Enjoy Life</a:t>
            </a:r>
            <a:endParaRPr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95" name="Google Shape;95;p16"/>
          <p:cNvSpPr/>
          <p:nvPr/>
        </p:nvSpPr>
        <p:spPr>
          <a:xfrm>
            <a:off x="2062647" y="2726231"/>
            <a:ext cx="5672100" cy="716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162601" lvl="0" marL="388800" rtl="0" algn="l">
              <a:spcBef>
                <a:spcPts val="1000"/>
              </a:spcBef>
              <a:spcAft>
                <a:spcPts val="0"/>
              </a:spcAft>
              <a:buSzPts val="1200"/>
              <a:buFont typeface="Lexend"/>
              <a:buChar char="➔"/>
            </a:pPr>
            <a:r>
              <a:rPr lang="en-CA" sz="1200">
                <a:latin typeface="Lexend"/>
                <a:ea typeface="Lexend"/>
                <a:cs typeface="Lexend"/>
                <a:sym typeface="Lexend"/>
              </a:rPr>
              <a:t>Which goals are already funded?</a:t>
            </a:r>
            <a:endParaRPr sz="1200">
              <a:latin typeface="Lexend"/>
              <a:ea typeface="Lexend"/>
              <a:cs typeface="Lexend"/>
              <a:sym typeface="Lexend"/>
            </a:endParaRPr>
          </a:p>
          <a:p>
            <a:pPr indent="-162601" lvl="0" marL="388800" rtl="0" algn="l">
              <a:spcBef>
                <a:spcPts val="1000"/>
              </a:spcBef>
              <a:spcAft>
                <a:spcPts val="1000"/>
              </a:spcAft>
              <a:buSzPts val="1200"/>
              <a:buFont typeface="Lexend"/>
              <a:buChar char="➔"/>
            </a:pPr>
            <a:r>
              <a:rPr lang="en-CA" sz="1200">
                <a:latin typeface="Lexend"/>
                <a:ea typeface="Lexend"/>
                <a:cs typeface="Lexend"/>
                <a:sym typeface="Lexend"/>
              </a:rPr>
              <a:t>When will we be able to buy a car?</a:t>
            </a:r>
            <a:endParaRPr sz="1200"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96" name="Google Shape;96;p16"/>
          <p:cNvSpPr txBox="1"/>
          <p:nvPr>
            <p:ph type="title"/>
          </p:nvPr>
        </p:nvSpPr>
        <p:spPr>
          <a:xfrm>
            <a:off x="540000" y="180000"/>
            <a:ext cx="7194900" cy="53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/>
              <a:t>And here are some of their objectives</a:t>
            </a:r>
            <a:endParaRPr/>
          </a:p>
        </p:txBody>
      </p:sp>
      <p:sp>
        <p:nvSpPr>
          <p:cNvPr id="97" name="Google Shape;97;p16"/>
          <p:cNvSpPr/>
          <p:nvPr/>
        </p:nvSpPr>
        <p:spPr>
          <a:xfrm>
            <a:off x="2062647" y="3599625"/>
            <a:ext cx="5672100" cy="385200"/>
          </a:xfrm>
          <a:prstGeom prst="roundRect">
            <a:avLst>
              <a:gd fmla="val 16667" name="adj"/>
            </a:avLst>
          </a:prstGeom>
          <a:solidFill>
            <a:srgbClr val="775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  3. Build Wealth</a:t>
            </a:r>
            <a:endParaRPr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98" name="Google Shape;98;p16"/>
          <p:cNvSpPr/>
          <p:nvPr/>
        </p:nvSpPr>
        <p:spPr>
          <a:xfrm>
            <a:off x="0" y="0"/>
            <a:ext cx="360000" cy="5143500"/>
          </a:xfrm>
          <a:prstGeom prst="rect">
            <a:avLst/>
          </a:prstGeom>
          <a:solidFill>
            <a:srgbClr val="3C46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6"/>
          <p:cNvSpPr/>
          <p:nvPr/>
        </p:nvSpPr>
        <p:spPr>
          <a:xfrm>
            <a:off x="2062647" y="3981114"/>
            <a:ext cx="5672100" cy="716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162601" lvl="0" marL="388800" rtl="0" algn="l">
              <a:spcBef>
                <a:spcPts val="1000"/>
              </a:spcBef>
              <a:spcAft>
                <a:spcPts val="0"/>
              </a:spcAft>
              <a:buSzPts val="1200"/>
              <a:buFont typeface="Lexend"/>
              <a:buChar char="➔"/>
            </a:pPr>
            <a:r>
              <a:rPr lang="en-CA" sz="1200">
                <a:latin typeface="Lexend"/>
                <a:ea typeface="Lexend"/>
                <a:cs typeface="Lexend"/>
                <a:sym typeface="Lexend"/>
              </a:rPr>
              <a:t>Will we </a:t>
            </a:r>
            <a:r>
              <a:rPr lang="en-CA" sz="1200">
                <a:latin typeface="Lexend"/>
                <a:ea typeface="Lexend"/>
                <a:cs typeface="Lexend"/>
                <a:sym typeface="Lexend"/>
              </a:rPr>
              <a:t>be able to retire at 65?</a:t>
            </a:r>
            <a:endParaRPr sz="1200">
              <a:latin typeface="Lexend"/>
              <a:ea typeface="Lexend"/>
              <a:cs typeface="Lexend"/>
              <a:sym typeface="Lexend"/>
            </a:endParaRPr>
          </a:p>
          <a:p>
            <a:pPr indent="-162601" lvl="0" marL="388800" rtl="0" algn="l">
              <a:spcBef>
                <a:spcPts val="1000"/>
              </a:spcBef>
              <a:spcAft>
                <a:spcPts val="1000"/>
              </a:spcAft>
              <a:buSzPts val="1200"/>
              <a:buFont typeface="Lexend"/>
              <a:buChar char="➔"/>
            </a:pPr>
            <a:r>
              <a:rPr lang="en-CA" sz="1200">
                <a:latin typeface="Lexend"/>
                <a:ea typeface="Lexend"/>
                <a:cs typeface="Lexend"/>
                <a:sym typeface="Lexend"/>
              </a:rPr>
              <a:t>What will be our income once we retire?</a:t>
            </a:r>
            <a:endParaRPr sz="1200"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2062647" y="2344742"/>
            <a:ext cx="5672100" cy="385200"/>
          </a:xfrm>
          <a:prstGeom prst="roundRect">
            <a:avLst>
              <a:gd fmla="val 16667" name="adj"/>
            </a:avLst>
          </a:prstGeom>
          <a:solidFill>
            <a:srgbClr val="775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  2. Achieve Goals</a:t>
            </a:r>
            <a:endParaRPr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101" name="Google Shape;101;p16" title="Untitled - June 30, 2026 at 08.42.49.png"/>
          <p:cNvPicPr preferRelativeResize="0"/>
          <p:nvPr/>
        </p:nvPicPr>
        <p:blipFill rotWithShape="1">
          <a:blip r:embed="rId3">
            <a:alphaModFix/>
          </a:blip>
          <a:srcRect b="66890" l="0" r="0" t="0"/>
          <a:stretch/>
        </p:blipFill>
        <p:spPr>
          <a:xfrm>
            <a:off x="540000" y="1017700"/>
            <a:ext cx="1422000" cy="11411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6" title="Untitled - June 30, 2026 at 08.42.49.png"/>
          <p:cNvPicPr preferRelativeResize="0"/>
          <p:nvPr/>
        </p:nvPicPr>
        <p:blipFill rotWithShape="1">
          <a:blip r:embed="rId3">
            <a:alphaModFix/>
          </a:blip>
          <a:srcRect b="34020" l="0" r="0" t="32871"/>
          <a:stretch/>
        </p:blipFill>
        <p:spPr>
          <a:xfrm>
            <a:off x="540000" y="2308145"/>
            <a:ext cx="1422000" cy="11411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6" title="Untitled - June 30, 2026 at 08.42.49.png"/>
          <p:cNvPicPr preferRelativeResize="0"/>
          <p:nvPr/>
        </p:nvPicPr>
        <p:blipFill rotWithShape="1">
          <a:blip r:embed="rId3">
            <a:alphaModFix/>
          </a:blip>
          <a:srcRect b="0" l="0" r="0" t="65186"/>
          <a:stretch/>
        </p:blipFill>
        <p:spPr>
          <a:xfrm>
            <a:off x="540000" y="3493931"/>
            <a:ext cx="1422000" cy="1207823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6"/>
          <p:cNvSpPr txBox="1"/>
          <p:nvPr/>
        </p:nvSpPr>
        <p:spPr>
          <a:xfrm>
            <a:off x="5057988" y="4749900"/>
            <a:ext cx="39963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Created by </a:t>
            </a:r>
            <a:r>
              <a:rPr lang="en-CA" sz="1000" u="sng">
                <a:solidFill>
                  <a:schemeClr val="hlink"/>
                </a:solidFill>
                <a:latin typeface="Lexend"/>
                <a:ea typeface="Lexend"/>
                <a:cs typeface="Lexend"/>
                <a:sym typeface="Lexend"/>
                <a:hlinkClick r:id="rId4"/>
              </a:rPr>
              <a:t>Clarissa Yamakita</a:t>
            </a: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 · Images generated with AI</a:t>
            </a:r>
            <a:endParaRPr sz="1000"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 txBox="1"/>
          <p:nvPr>
            <p:ph type="title"/>
          </p:nvPr>
        </p:nvSpPr>
        <p:spPr>
          <a:xfrm>
            <a:off x="540000" y="180000"/>
            <a:ext cx="8427600" cy="56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/>
              <a:t>How can they make sure they’re on the right track?</a:t>
            </a:r>
            <a:endParaRPr/>
          </a:p>
        </p:txBody>
      </p:sp>
      <p:sp>
        <p:nvSpPr>
          <p:cNvPr id="110" name="Google Shape;110;p17"/>
          <p:cNvSpPr/>
          <p:nvPr/>
        </p:nvSpPr>
        <p:spPr>
          <a:xfrm>
            <a:off x="0" y="0"/>
            <a:ext cx="360000" cy="5143500"/>
          </a:xfrm>
          <a:prstGeom prst="rect">
            <a:avLst/>
          </a:prstGeom>
          <a:solidFill>
            <a:srgbClr val="3C46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1" name="Google Shape;11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4200" y="884375"/>
            <a:ext cx="4973826" cy="2780499"/>
          </a:xfrm>
          <a:prstGeom prst="rect">
            <a:avLst/>
          </a:prstGeom>
          <a:noFill/>
          <a:ln>
            <a:noFill/>
          </a:ln>
          <a:effectLst>
            <a:outerShdw blurRad="71438" rotWithShape="0" algn="bl" dir="5400000" dist="38100">
              <a:srgbClr val="000000">
                <a:alpha val="50000"/>
              </a:srgbClr>
            </a:outerShdw>
          </a:effectLst>
        </p:spPr>
      </p:pic>
      <p:pic>
        <p:nvPicPr>
          <p:cNvPr id="112" name="Google Shape;112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48925" y="1956075"/>
            <a:ext cx="4608050" cy="2566445"/>
          </a:xfrm>
          <a:prstGeom prst="rect">
            <a:avLst/>
          </a:prstGeom>
          <a:noFill/>
          <a:ln>
            <a:noFill/>
          </a:ln>
          <a:effectLst>
            <a:outerShdw blurRad="71438" rotWithShape="0" algn="bl" dir="5400000" dist="38100">
              <a:srgbClr val="000000">
                <a:alpha val="50000"/>
              </a:srgbClr>
            </a:outerShdw>
          </a:effectLst>
        </p:spPr>
      </p:pic>
      <p:sp>
        <p:nvSpPr>
          <p:cNvPr id="113" name="Google Shape;113;p17"/>
          <p:cNvSpPr txBox="1"/>
          <p:nvPr/>
        </p:nvSpPr>
        <p:spPr>
          <a:xfrm>
            <a:off x="5057988" y="4749900"/>
            <a:ext cx="39963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Created by </a:t>
            </a:r>
            <a:r>
              <a:rPr lang="en-CA" sz="1000" u="sng">
                <a:solidFill>
                  <a:schemeClr val="hlink"/>
                </a:solidFill>
                <a:latin typeface="Lexend"/>
                <a:ea typeface="Lexend"/>
                <a:cs typeface="Lexend"/>
                <a:sym typeface="Lexend"/>
                <a:hlinkClick r:id="rId5"/>
              </a:rPr>
              <a:t>Clarissa Yamakita</a:t>
            </a: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 · Images generated with AI</a:t>
            </a:r>
            <a:endParaRPr sz="1000"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8"/>
          <p:cNvSpPr txBox="1"/>
          <p:nvPr>
            <p:ph type="title"/>
          </p:nvPr>
        </p:nvSpPr>
        <p:spPr>
          <a:xfrm>
            <a:off x="540000" y="1800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/>
              <a:t>They can use this part of the dashboard to …</a:t>
            </a:r>
            <a:endParaRPr/>
          </a:p>
        </p:txBody>
      </p:sp>
      <p:sp>
        <p:nvSpPr>
          <p:cNvPr id="119" name="Google Shape;119;p18"/>
          <p:cNvSpPr/>
          <p:nvPr/>
        </p:nvSpPr>
        <p:spPr>
          <a:xfrm>
            <a:off x="0" y="0"/>
            <a:ext cx="360000" cy="5143500"/>
          </a:xfrm>
          <a:prstGeom prst="rect">
            <a:avLst/>
          </a:prstGeom>
          <a:solidFill>
            <a:srgbClr val="3C46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20" name="Google Shape;12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9425" y="897175"/>
            <a:ext cx="6555773" cy="3664850"/>
          </a:xfrm>
          <a:prstGeom prst="rect">
            <a:avLst/>
          </a:prstGeom>
          <a:noFill/>
          <a:ln>
            <a:noFill/>
          </a:ln>
          <a:effectLst>
            <a:outerShdw blurRad="71438" rotWithShape="0" algn="bl" dir="5400000" dist="38100">
              <a:srgbClr val="000000">
                <a:alpha val="50000"/>
              </a:srgbClr>
            </a:outerShdw>
          </a:effectLst>
        </p:spPr>
      </p:pic>
      <p:sp>
        <p:nvSpPr>
          <p:cNvPr id="121" name="Google Shape;121;p18"/>
          <p:cNvSpPr txBox="1"/>
          <p:nvPr/>
        </p:nvSpPr>
        <p:spPr>
          <a:xfrm>
            <a:off x="5057988" y="4749900"/>
            <a:ext cx="39963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Created by </a:t>
            </a:r>
            <a:r>
              <a:rPr lang="en-CA" sz="1000" u="sng">
                <a:solidFill>
                  <a:schemeClr val="hlink"/>
                </a:solidFill>
                <a:latin typeface="Lexend"/>
                <a:ea typeface="Lexend"/>
                <a:cs typeface="Lexend"/>
                <a:sym typeface="Lexend"/>
                <a:hlinkClick r:id="rId4"/>
              </a:rPr>
              <a:t>Clarissa Yamakita</a:t>
            </a: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 · Images generated with AI</a:t>
            </a:r>
            <a:endParaRPr sz="1000"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9"/>
          <p:cNvSpPr/>
          <p:nvPr/>
        </p:nvSpPr>
        <p:spPr>
          <a:xfrm>
            <a:off x="0" y="0"/>
            <a:ext cx="360000" cy="5143500"/>
          </a:xfrm>
          <a:prstGeom prst="rect">
            <a:avLst/>
          </a:prstGeom>
          <a:solidFill>
            <a:srgbClr val="3C46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9"/>
          <p:cNvSpPr txBox="1"/>
          <p:nvPr/>
        </p:nvSpPr>
        <p:spPr>
          <a:xfrm>
            <a:off x="5053175" y="3922940"/>
            <a:ext cx="3748800" cy="8514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1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Specific categories could be negative </a:t>
            </a:r>
            <a:r>
              <a:rPr b="1" lang="en-CA" sz="11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as long as they compensate for each other</a:t>
            </a:r>
            <a:r>
              <a:rPr lang="en-CA" sz="11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.</a:t>
            </a:r>
            <a:r>
              <a:rPr b="1" lang="en-CA" sz="11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</a:t>
            </a:r>
            <a:r>
              <a:rPr lang="en-CA" sz="11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Overall variance should </a:t>
            </a:r>
            <a:r>
              <a:rPr lang="en-CA" sz="11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remain</a:t>
            </a:r>
            <a:r>
              <a:rPr lang="en-CA" sz="11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</a:t>
            </a:r>
            <a:r>
              <a:rPr b="1" lang="en-CA" sz="11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positive</a:t>
            </a:r>
            <a:r>
              <a:rPr lang="en-CA" sz="11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.</a:t>
            </a:r>
            <a:endParaRPr i="1" sz="11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28" name="Google Shape;128;p19"/>
          <p:cNvSpPr txBox="1"/>
          <p:nvPr>
            <p:ph type="title"/>
          </p:nvPr>
        </p:nvSpPr>
        <p:spPr>
          <a:xfrm>
            <a:off x="540000" y="180000"/>
            <a:ext cx="8423700" cy="64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2600"/>
              <a:t>1. </a:t>
            </a:r>
            <a:r>
              <a:rPr lang="en-CA" sz="2600"/>
              <a:t>Enjoy Life</a:t>
            </a:r>
            <a:r>
              <a:rPr lang="en-CA" sz="2378">
                <a:latin typeface="Lexend"/>
                <a:ea typeface="Lexend"/>
                <a:cs typeface="Lexend"/>
                <a:sym typeface="Lexend"/>
              </a:rPr>
              <a:t>: </a:t>
            </a:r>
            <a:r>
              <a:rPr lang="en-CA" sz="2078">
                <a:solidFill>
                  <a:srgbClr val="666666"/>
                </a:solidFill>
                <a:latin typeface="Lexend"/>
                <a:ea typeface="Lexend"/>
                <a:cs typeface="Lexend"/>
                <a:sym typeface="Lexend"/>
              </a:rPr>
              <a:t>Can we afford these groceries?</a:t>
            </a:r>
            <a:endParaRPr sz="2078">
              <a:solidFill>
                <a:srgbClr val="666666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129" name="Google Shape;129;p19"/>
          <p:cNvPicPr preferRelativeResize="0"/>
          <p:nvPr/>
        </p:nvPicPr>
        <p:blipFill rotWithShape="1">
          <a:blip r:embed="rId3">
            <a:alphaModFix/>
          </a:blip>
          <a:srcRect b="0" l="13429" r="12458" t="0"/>
          <a:stretch/>
        </p:blipFill>
        <p:spPr>
          <a:xfrm>
            <a:off x="5136525" y="911975"/>
            <a:ext cx="3665400" cy="27000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47625">
              <a:srgbClr val="000000">
                <a:alpha val="50000"/>
              </a:srgbClr>
            </a:outerShdw>
          </a:effectLst>
        </p:spPr>
      </p:pic>
      <p:pic>
        <p:nvPicPr>
          <p:cNvPr id="130" name="Google Shape;130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2000" y="911975"/>
            <a:ext cx="3872530" cy="28797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9"/>
          <p:cNvSpPr txBox="1"/>
          <p:nvPr/>
        </p:nvSpPr>
        <p:spPr>
          <a:xfrm>
            <a:off x="948650" y="3922940"/>
            <a:ext cx="3748800" cy="851400"/>
          </a:xfrm>
          <a:prstGeom prst="rect">
            <a:avLst/>
          </a:prstGeom>
          <a:solidFill>
            <a:srgbClr val="998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CA" sz="11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It depends</a:t>
            </a:r>
            <a:r>
              <a:rPr lang="en-CA" sz="11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. Even though they've already gone over the Groceries budget, they still have some left from other categories, like Miscellaneous.</a:t>
            </a:r>
            <a:endParaRPr sz="11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32" name="Google Shape;132;p19"/>
          <p:cNvSpPr txBox="1"/>
          <p:nvPr/>
        </p:nvSpPr>
        <p:spPr>
          <a:xfrm>
            <a:off x="5057988" y="4749900"/>
            <a:ext cx="39963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Created by </a:t>
            </a:r>
            <a:r>
              <a:rPr lang="en-CA" sz="1000" u="sng">
                <a:solidFill>
                  <a:schemeClr val="hlink"/>
                </a:solidFill>
                <a:latin typeface="Lexend"/>
                <a:ea typeface="Lexend"/>
                <a:cs typeface="Lexend"/>
                <a:sym typeface="Lexend"/>
                <a:hlinkClick r:id="rId5"/>
              </a:rPr>
              <a:t>Clarissa Yamakita</a:t>
            </a: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 · Images generated with AI</a:t>
            </a:r>
            <a:endParaRPr sz="1000"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0"/>
          <p:cNvSpPr/>
          <p:nvPr/>
        </p:nvSpPr>
        <p:spPr>
          <a:xfrm>
            <a:off x="0" y="0"/>
            <a:ext cx="360000" cy="5143500"/>
          </a:xfrm>
          <a:prstGeom prst="rect">
            <a:avLst/>
          </a:prstGeom>
          <a:solidFill>
            <a:srgbClr val="3C46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20"/>
          <p:cNvSpPr txBox="1"/>
          <p:nvPr/>
        </p:nvSpPr>
        <p:spPr>
          <a:xfrm>
            <a:off x="871975" y="3769250"/>
            <a:ext cx="3699900" cy="9807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1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Amounts are </a:t>
            </a:r>
            <a:r>
              <a:rPr b="1" lang="en-CA" sz="11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accumulated </a:t>
            </a:r>
            <a:r>
              <a:rPr lang="en-CA" sz="11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over time. If a certain amount isn’t used on a month, it can be </a:t>
            </a:r>
            <a:r>
              <a:rPr b="1" lang="en-CA" sz="11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carried over</a:t>
            </a:r>
            <a:r>
              <a:rPr lang="en-CA" sz="11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to the future.</a:t>
            </a:r>
            <a:endParaRPr b="1"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39" name="Google Shape;139;p20"/>
          <p:cNvSpPr txBox="1"/>
          <p:nvPr>
            <p:ph type="title"/>
          </p:nvPr>
        </p:nvSpPr>
        <p:spPr>
          <a:xfrm>
            <a:off x="540000" y="180000"/>
            <a:ext cx="8760600" cy="64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2600"/>
              <a:t>1. Enjoy Life</a:t>
            </a:r>
            <a:r>
              <a:rPr lang="en-CA" sz="2378">
                <a:latin typeface="Lexend"/>
                <a:ea typeface="Lexend"/>
                <a:cs typeface="Lexend"/>
                <a:sym typeface="Lexend"/>
              </a:rPr>
              <a:t>: </a:t>
            </a:r>
            <a:r>
              <a:rPr lang="en-CA" sz="2078">
                <a:solidFill>
                  <a:srgbClr val="666666"/>
                </a:solidFill>
                <a:latin typeface="Lexend"/>
                <a:ea typeface="Lexend"/>
                <a:cs typeface="Lexend"/>
                <a:sym typeface="Lexend"/>
              </a:rPr>
              <a:t>Can we book a VR session this weekend?</a:t>
            </a:r>
            <a:endParaRPr sz="2178">
              <a:solidFill>
                <a:srgbClr val="666666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0" name="Google Shape;140;p20"/>
          <p:cNvSpPr txBox="1"/>
          <p:nvPr/>
        </p:nvSpPr>
        <p:spPr>
          <a:xfrm>
            <a:off x="5172650" y="900550"/>
            <a:ext cx="3489600" cy="1706100"/>
          </a:xfrm>
          <a:prstGeom prst="rect">
            <a:avLst/>
          </a:prstGeom>
          <a:solidFill>
            <a:srgbClr val="998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1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A VR gaming session for 2 people + dinner with friends could cost around $200 in total.</a:t>
            </a:r>
            <a:endParaRPr sz="11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1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Kenji and Mei don’t have enough on their Guilt-Free Family budget this month.</a:t>
            </a:r>
            <a:endParaRPr sz="11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141" name="Google Shape;14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72650" y="2783325"/>
            <a:ext cx="3489600" cy="19050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47625">
              <a:srgbClr val="000000">
                <a:alpha val="50000"/>
              </a:srgbClr>
            </a:outerShdw>
          </a:effectLst>
        </p:spPr>
      </p:pic>
      <p:pic>
        <p:nvPicPr>
          <p:cNvPr id="142" name="Google Shape;14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1975" y="900550"/>
            <a:ext cx="3788700" cy="279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0"/>
          <p:cNvSpPr txBox="1"/>
          <p:nvPr/>
        </p:nvSpPr>
        <p:spPr>
          <a:xfrm>
            <a:off x="5057988" y="4749900"/>
            <a:ext cx="39963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Created by </a:t>
            </a:r>
            <a:r>
              <a:rPr lang="en-CA" sz="1000" u="sng">
                <a:solidFill>
                  <a:schemeClr val="hlink"/>
                </a:solidFill>
                <a:latin typeface="Lexend"/>
                <a:ea typeface="Lexend"/>
                <a:cs typeface="Lexend"/>
                <a:sym typeface="Lexend"/>
                <a:hlinkClick r:id="rId5"/>
              </a:rPr>
              <a:t>Clarissa Yamakita</a:t>
            </a: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 · Images generated with AI</a:t>
            </a:r>
            <a:endParaRPr sz="1000"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1"/>
          <p:cNvSpPr txBox="1"/>
          <p:nvPr>
            <p:ph type="title"/>
          </p:nvPr>
        </p:nvSpPr>
        <p:spPr>
          <a:xfrm>
            <a:off x="445383" y="180000"/>
            <a:ext cx="8622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CA" sz="2420"/>
              <a:t>And here is where they see their dreams coming true:</a:t>
            </a:r>
            <a:endParaRPr sz="2420"/>
          </a:p>
        </p:txBody>
      </p:sp>
      <p:sp>
        <p:nvSpPr>
          <p:cNvPr id="149" name="Google Shape;149;p21"/>
          <p:cNvSpPr/>
          <p:nvPr/>
        </p:nvSpPr>
        <p:spPr>
          <a:xfrm>
            <a:off x="0" y="0"/>
            <a:ext cx="360000" cy="5143500"/>
          </a:xfrm>
          <a:prstGeom prst="rect">
            <a:avLst/>
          </a:prstGeom>
          <a:solidFill>
            <a:srgbClr val="3C46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50" name="Google Shape;150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5650" y="965525"/>
            <a:ext cx="6646050" cy="3711950"/>
          </a:xfrm>
          <a:prstGeom prst="rect">
            <a:avLst/>
          </a:prstGeom>
          <a:noFill/>
          <a:ln>
            <a:noFill/>
          </a:ln>
          <a:effectLst>
            <a:outerShdw blurRad="71438" rotWithShape="0" algn="bl" dir="5400000" dist="38100">
              <a:srgbClr val="000000">
                <a:alpha val="50000"/>
              </a:srgbClr>
            </a:outerShdw>
          </a:effectLst>
        </p:spPr>
      </p:pic>
      <p:sp>
        <p:nvSpPr>
          <p:cNvPr id="151" name="Google Shape;151;p21"/>
          <p:cNvSpPr txBox="1"/>
          <p:nvPr/>
        </p:nvSpPr>
        <p:spPr>
          <a:xfrm>
            <a:off x="7076100" y="4749900"/>
            <a:ext cx="20679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Created by </a:t>
            </a:r>
            <a:r>
              <a:rPr lang="en-CA" sz="1000" u="sng">
                <a:solidFill>
                  <a:schemeClr val="hlink"/>
                </a:solidFill>
                <a:latin typeface="Lexend"/>
                <a:ea typeface="Lexend"/>
                <a:cs typeface="Lexend"/>
                <a:sym typeface="Lexend"/>
                <a:hlinkClick r:id="rId4"/>
              </a:rPr>
              <a:t>Clarissa Yamakita</a:t>
            </a:r>
            <a:endParaRPr sz="1000"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2"/>
          <p:cNvSpPr/>
          <p:nvPr/>
        </p:nvSpPr>
        <p:spPr>
          <a:xfrm>
            <a:off x="0" y="0"/>
            <a:ext cx="360000" cy="5143500"/>
          </a:xfrm>
          <a:prstGeom prst="rect">
            <a:avLst/>
          </a:prstGeom>
          <a:solidFill>
            <a:srgbClr val="3C46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22"/>
          <p:cNvSpPr txBox="1"/>
          <p:nvPr>
            <p:ph type="title"/>
          </p:nvPr>
        </p:nvSpPr>
        <p:spPr>
          <a:xfrm>
            <a:off x="540000" y="180000"/>
            <a:ext cx="8423700" cy="64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2600"/>
              <a:t>2</a:t>
            </a:r>
            <a:r>
              <a:rPr lang="en-CA" sz="2600"/>
              <a:t>. Achieve Goals</a:t>
            </a:r>
            <a:r>
              <a:rPr lang="en-CA" sz="2378">
                <a:latin typeface="Lexend"/>
                <a:ea typeface="Lexend"/>
                <a:cs typeface="Lexend"/>
                <a:sym typeface="Lexend"/>
              </a:rPr>
              <a:t>: </a:t>
            </a:r>
            <a:r>
              <a:rPr lang="en-CA" sz="2078">
                <a:solidFill>
                  <a:srgbClr val="666666"/>
                </a:solidFill>
                <a:latin typeface="Lexend"/>
                <a:ea typeface="Lexend"/>
                <a:cs typeface="Lexend"/>
                <a:sym typeface="Lexend"/>
              </a:rPr>
              <a:t>Which goals are already funded?</a:t>
            </a:r>
            <a:endParaRPr sz="2078">
              <a:solidFill>
                <a:srgbClr val="666666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58" name="Google Shape;158;p22"/>
          <p:cNvSpPr txBox="1"/>
          <p:nvPr/>
        </p:nvSpPr>
        <p:spPr>
          <a:xfrm>
            <a:off x="684075" y="3856575"/>
            <a:ext cx="7133700" cy="538800"/>
          </a:xfrm>
          <a:prstGeom prst="rect">
            <a:avLst/>
          </a:prstGeom>
          <a:solidFill>
            <a:srgbClr val="998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1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Kenji and Mei have already saved the amount needed for this year's vacation and a laptop.</a:t>
            </a:r>
            <a:endParaRPr i="1" sz="9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159" name="Google Shape;15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4075" y="1031725"/>
            <a:ext cx="7133699" cy="2619625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2"/>
          <p:cNvSpPr/>
          <p:nvPr/>
        </p:nvSpPr>
        <p:spPr>
          <a:xfrm>
            <a:off x="901800" y="1571700"/>
            <a:ext cx="6503400" cy="707100"/>
          </a:xfrm>
          <a:prstGeom prst="rect">
            <a:avLst/>
          </a:prstGeom>
          <a:noFill/>
          <a:ln cap="flat" cmpd="sng" w="19050">
            <a:solidFill>
              <a:srgbClr val="4B2B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5150" lIns="65150" spcFirstLastPara="1" rIns="65150" wrap="square" tIns="651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98"/>
          </a:p>
        </p:txBody>
      </p:sp>
      <p:sp>
        <p:nvSpPr>
          <p:cNvPr id="161" name="Google Shape;161;p22"/>
          <p:cNvSpPr txBox="1"/>
          <p:nvPr/>
        </p:nvSpPr>
        <p:spPr>
          <a:xfrm>
            <a:off x="5057988" y="4749900"/>
            <a:ext cx="39963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Created by </a:t>
            </a:r>
            <a:r>
              <a:rPr lang="en-CA" sz="1000" u="sng">
                <a:solidFill>
                  <a:schemeClr val="hlink"/>
                </a:solidFill>
                <a:latin typeface="Lexend"/>
                <a:ea typeface="Lexend"/>
                <a:cs typeface="Lexend"/>
                <a:sym typeface="Lexend"/>
                <a:hlinkClick r:id="rId4"/>
              </a:rPr>
              <a:t>Clarissa Yamakita</a:t>
            </a: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 · Images generated with AI</a:t>
            </a:r>
            <a:endParaRPr sz="1000"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3"/>
          <p:cNvSpPr/>
          <p:nvPr/>
        </p:nvSpPr>
        <p:spPr>
          <a:xfrm>
            <a:off x="0" y="0"/>
            <a:ext cx="360000" cy="5143500"/>
          </a:xfrm>
          <a:prstGeom prst="rect">
            <a:avLst/>
          </a:prstGeom>
          <a:solidFill>
            <a:srgbClr val="3C46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23"/>
          <p:cNvSpPr txBox="1"/>
          <p:nvPr>
            <p:ph type="title"/>
          </p:nvPr>
        </p:nvSpPr>
        <p:spPr>
          <a:xfrm>
            <a:off x="540000" y="180000"/>
            <a:ext cx="8423700" cy="64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2600"/>
              <a:t>2. Achieve Goals</a:t>
            </a:r>
            <a:r>
              <a:rPr lang="en-CA" sz="2378">
                <a:latin typeface="Lexend"/>
                <a:ea typeface="Lexend"/>
                <a:cs typeface="Lexend"/>
                <a:sym typeface="Lexend"/>
              </a:rPr>
              <a:t>: </a:t>
            </a:r>
            <a:r>
              <a:rPr lang="en-CA" sz="2078">
                <a:solidFill>
                  <a:srgbClr val="666666"/>
                </a:solidFill>
                <a:latin typeface="Lexend"/>
                <a:ea typeface="Lexend"/>
                <a:cs typeface="Lexend"/>
                <a:sym typeface="Lexend"/>
              </a:rPr>
              <a:t>When will we be able to buy a car</a:t>
            </a:r>
            <a:r>
              <a:rPr lang="en-CA" sz="2078">
                <a:solidFill>
                  <a:srgbClr val="666666"/>
                </a:solidFill>
                <a:latin typeface="Lexend"/>
                <a:ea typeface="Lexend"/>
                <a:cs typeface="Lexend"/>
                <a:sym typeface="Lexend"/>
              </a:rPr>
              <a:t>?</a:t>
            </a:r>
            <a:endParaRPr sz="2078">
              <a:solidFill>
                <a:srgbClr val="666666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68" name="Google Shape;168;p23"/>
          <p:cNvSpPr txBox="1"/>
          <p:nvPr/>
        </p:nvSpPr>
        <p:spPr>
          <a:xfrm>
            <a:off x="738250" y="3728308"/>
            <a:ext cx="4896900" cy="1014000"/>
          </a:xfrm>
          <a:prstGeom prst="rect">
            <a:avLst/>
          </a:prstGeom>
          <a:solidFill>
            <a:srgbClr val="998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1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With their current savings progress, they should be able </a:t>
            </a:r>
            <a:endParaRPr sz="11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1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to buy a car by February, 2027.</a:t>
            </a:r>
            <a:endParaRPr i="1" sz="9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169" name="Google Shape;169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97569" y="3637683"/>
            <a:ext cx="2020200" cy="11046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47625">
              <a:srgbClr val="000000">
                <a:alpha val="50000"/>
              </a:srgbClr>
            </a:outerShdw>
          </a:effectLst>
        </p:spPr>
      </p:pic>
      <p:pic>
        <p:nvPicPr>
          <p:cNvPr id="170" name="Google Shape;170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4075" y="903458"/>
            <a:ext cx="7133699" cy="2619625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23"/>
          <p:cNvSpPr/>
          <p:nvPr/>
        </p:nvSpPr>
        <p:spPr>
          <a:xfrm>
            <a:off x="1363556" y="2154067"/>
            <a:ext cx="6109200" cy="353400"/>
          </a:xfrm>
          <a:prstGeom prst="rect">
            <a:avLst/>
          </a:prstGeom>
          <a:noFill/>
          <a:ln cap="flat" cmpd="sng" w="19050">
            <a:solidFill>
              <a:srgbClr val="4B2B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5150" lIns="65150" spcFirstLastPara="1" rIns="65150" wrap="square" tIns="651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98"/>
          </a:p>
        </p:txBody>
      </p:sp>
      <p:sp>
        <p:nvSpPr>
          <p:cNvPr id="172" name="Google Shape;172;p23"/>
          <p:cNvSpPr txBox="1"/>
          <p:nvPr/>
        </p:nvSpPr>
        <p:spPr>
          <a:xfrm>
            <a:off x="5057988" y="4749900"/>
            <a:ext cx="39963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Created by </a:t>
            </a:r>
            <a:r>
              <a:rPr lang="en-CA" sz="1000" u="sng">
                <a:solidFill>
                  <a:schemeClr val="hlink"/>
                </a:solidFill>
                <a:latin typeface="Lexend"/>
                <a:ea typeface="Lexend"/>
                <a:cs typeface="Lexend"/>
                <a:sym typeface="Lexend"/>
                <a:hlinkClick r:id="rId5"/>
              </a:rPr>
              <a:t>Clarissa Yamakita</a:t>
            </a: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 · Images generated with AI</a:t>
            </a:r>
            <a:endParaRPr sz="1000"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4"/>
          <p:cNvSpPr/>
          <p:nvPr/>
        </p:nvSpPr>
        <p:spPr>
          <a:xfrm>
            <a:off x="0" y="0"/>
            <a:ext cx="360000" cy="5143500"/>
          </a:xfrm>
          <a:prstGeom prst="rect">
            <a:avLst/>
          </a:prstGeom>
          <a:solidFill>
            <a:srgbClr val="3C46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24"/>
          <p:cNvSpPr txBox="1"/>
          <p:nvPr>
            <p:ph type="title"/>
          </p:nvPr>
        </p:nvSpPr>
        <p:spPr>
          <a:xfrm>
            <a:off x="540000" y="180000"/>
            <a:ext cx="8423700" cy="64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2600"/>
              <a:t>3</a:t>
            </a:r>
            <a:r>
              <a:rPr lang="en-CA" sz="2600"/>
              <a:t>. Build Wealth</a:t>
            </a:r>
            <a:r>
              <a:rPr lang="en-CA" sz="2378">
                <a:latin typeface="Lexend"/>
                <a:ea typeface="Lexend"/>
                <a:cs typeface="Lexend"/>
                <a:sym typeface="Lexend"/>
              </a:rPr>
              <a:t>: </a:t>
            </a:r>
            <a:r>
              <a:rPr lang="en-CA" sz="2078">
                <a:solidFill>
                  <a:srgbClr val="666666"/>
                </a:solidFill>
                <a:latin typeface="Lexend"/>
                <a:ea typeface="Lexend"/>
                <a:cs typeface="Lexend"/>
                <a:sym typeface="Lexend"/>
              </a:rPr>
              <a:t>W</a:t>
            </a:r>
            <a:r>
              <a:rPr lang="en-CA" sz="2078">
                <a:solidFill>
                  <a:srgbClr val="666666"/>
                </a:solidFill>
                <a:latin typeface="Lexend"/>
                <a:ea typeface="Lexend"/>
                <a:cs typeface="Lexend"/>
                <a:sym typeface="Lexend"/>
              </a:rPr>
              <a:t>ill we be able to retire at 65</a:t>
            </a:r>
            <a:r>
              <a:rPr lang="en-CA" sz="2078">
                <a:solidFill>
                  <a:srgbClr val="666666"/>
                </a:solidFill>
                <a:latin typeface="Lexend"/>
                <a:ea typeface="Lexend"/>
                <a:cs typeface="Lexend"/>
                <a:sym typeface="Lexend"/>
              </a:rPr>
              <a:t>?</a:t>
            </a:r>
            <a:endParaRPr sz="2078">
              <a:solidFill>
                <a:srgbClr val="666666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79" name="Google Shape;179;p24"/>
          <p:cNvSpPr txBox="1"/>
          <p:nvPr/>
        </p:nvSpPr>
        <p:spPr>
          <a:xfrm>
            <a:off x="5327300" y="3225075"/>
            <a:ext cx="3511800" cy="13626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1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The </a:t>
            </a:r>
            <a:r>
              <a:rPr b="1" lang="en-CA" sz="11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4% withdrawal rule</a:t>
            </a:r>
            <a:r>
              <a:rPr lang="en-CA" sz="11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says you can safely withdraw about 4% of your portfolio per year without running out of money — that's how $2.1M becomes $85,153/year.</a:t>
            </a:r>
            <a:endParaRPr i="1" sz="11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80" name="Google Shape;180;p24"/>
          <p:cNvSpPr txBox="1"/>
          <p:nvPr/>
        </p:nvSpPr>
        <p:spPr>
          <a:xfrm>
            <a:off x="743300" y="3225075"/>
            <a:ext cx="4382100" cy="1362600"/>
          </a:xfrm>
          <a:prstGeom prst="rect">
            <a:avLst/>
          </a:prstGeom>
          <a:solidFill>
            <a:srgbClr val="998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1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In </a:t>
            </a:r>
            <a:r>
              <a:rPr b="1" lang="en-CA" sz="11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33 years, </a:t>
            </a:r>
            <a:r>
              <a:rPr lang="en-CA" sz="11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Kenji and Mei could have enough to live off only from their investments.</a:t>
            </a:r>
            <a:endParaRPr sz="11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1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They would have about </a:t>
            </a:r>
            <a:r>
              <a:rPr b="1" lang="en-CA" sz="11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$2.1M </a:t>
            </a:r>
            <a:r>
              <a:rPr lang="en-CA" sz="11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considering an average interest rate of 7% and a monthly contribution of $1,000 to their current investments.</a:t>
            </a:r>
            <a:endParaRPr sz="11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181" name="Google Shape;181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3275" y="903450"/>
            <a:ext cx="4382074" cy="19927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27299" y="941313"/>
            <a:ext cx="3511800" cy="19170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47625">
              <a:srgbClr val="000000">
                <a:alpha val="50000"/>
              </a:srgbClr>
            </a:outerShdw>
          </a:effectLst>
        </p:spPr>
      </p:pic>
      <p:sp>
        <p:nvSpPr>
          <p:cNvPr id="183" name="Google Shape;183;p24"/>
          <p:cNvSpPr txBox="1"/>
          <p:nvPr/>
        </p:nvSpPr>
        <p:spPr>
          <a:xfrm>
            <a:off x="5057988" y="4749900"/>
            <a:ext cx="39963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Created by </a:t>
            </a:r>
            <a:r>
              <a:rPr lang="en-CA" sz="1000" u="sng">
                <a:solidFill>
                  <a:schemeClr val="hlink"/>
                </a:solidFill>
                <a:latin typeface="Lexend"/>
                <a:ea typeface="Lexend"/>
                <a:cs typeface="Lexend"/>
                <a:sym typeface="Lexend"/>
                <a:hlinkClick r:id="rId5"/>
              </a:rPr>
              <a:t>Clarissa Yamakita</a:t>
            </a: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 · Images generated with AI</a:t>
            </a:r>
            <a:endParaRPr sz="1000"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/>
          <p:nvPr/>
        </p:nvSpPr>
        <p:spPr>
          <a:xfrm>
            <a:off x="0" y="0"/>
            <a:ext cx="360000" cy="5143500"/>
          </a:xfrm>
          <a:prstGeom prst="rect">
            <a:avLst/>
          </a:prstGeom>
          <a:solidFill>
            <a:srgbClr val="3C46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25"/>
          <p:cNvSpPr txBox="1"/>
          <p:nvPr>
            <p:ph type="title"/>
          </p:nvPr>
        </p:nvSpPr>
        <p:spPr>
          <a:xfrm>
            <a:off x="540000" y="180000"/>
            <a:ext cx="8423700" cy="64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2600"/>
              <a:t>3. Build Wealth</a:t>
            </a:r>
            <a:r>
              <a:rPr lang="en-CA" sz="2378">
                <a:latin typeface="Lexend"/>
                <a:ea typeface="Lexend"/>
                <a:cs typeface="Lexend"/>
                <a:sym typeface="Lexend"/>
              </a:rPr>
              <a:t>: </a:t>
            </a:r>
            <a:r>
              <a:rPr lang="en-CA" sz="2078">
                <a:solidFill>
                  <a:srgbClr val="666666"/>
                </a:solidFill>
                <a:latin typeface="Lexend"/>
                <a:ea typeface="Lexend"/>
                <a:cs typeface="Lexend"/>
                <a:sym typeface="Lexend"/>
              </a:rPr>
              <a:t>What will be our income once we retire?</a:t>
            </a:r>
            <a:endParaRPr sz="2078">
              <a:solidFill>
                <a:srgbClr val="666666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90" name="Google Shape;190;p25"/>
          <p:cNvSpPr txBox="1"/>
          <p:nvPr/>
        </p:nvSpPr>
        <p:spPr>
          <a:xfrm>
            <a:off x="2449225" y="3202400"/>
            <a:ext cx="4382100" cy="1410900"/>
          </a:xfrm>
          <a:prstGeom prst="rect">
            <a:avLst/>
          </a:prstGeom>
          <a:solidFill>
            <a:srgbClr val="998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CA" sz="11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Good news</a:t>
            </a:r>
            <a:r>
              <a:rPr lang="en-CA" sz="11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: $7,096/month almost matches Kenji's and Mei’s current paycheck of $7,142 — their retirement income from investments alone could fully replace their current salaries.</a:t>
            </a:r>
            <a:endParaRPr sz="11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191" name="Google Shape;191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57300" y="903450"/>
            <a:ext cx="3506400" cy="19140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47625">
              <a:srgbClr val="000000">
                <a:alpha val="50000"/>
              </a:srgbClr>
            </a:outerShdw>
          </a:effectLst>
        </p:spPr>
      </p:pic>
      <p:pic>
        <p:nvPicPr>
          <p:cNvPr id="192" name="Google Shape;192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3275" y="903450"/>
            <a:ext cx="4382074" cy="1992717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5"/>
          <p:cNvSpPr txBox="1"/>
          <p:nvPr/>
        </p:nvSpPr>
        <p:spPr>
          <a:xfrm>
            <a:off x="5057988" y="4749900"/>
            <a:ext cx="39963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Created by </a:t>
            </a:r>
            <a:r>
              <a:rPr lang="en-CA" sz="1000" u="sng">
                <a:solidFill>
                  <a:schemeClr val="hlink"/>
                </a:solidFill>
                <a:latin typeface="Lexend"/>
                <a:ea typeface="Lexend"/>
                <a:cs typeface="Lexend"/>
                <a:sym typeface="Lexend"/>
                <a:hlinkClick r:id="rId5"/>
              </a:rPr>
              <a:t>Clarissa Yamakita</a:t>
            </a: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 · Images generated with AI</a:t>
            </a:r>
            <a:endParaRPr sz="1000"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6"/>
          <p:cNvSpPr/>
          <p:nvPr/>
        </p:nvSpPr>
        <p:spPr>
          <a:xfrm>
            <a:off x="0" y="0"/>
            <a:ext cx="360000" cy="5143500"/>
          </a:xfrm>
          <a:prstGeom prst="rect">
            <a:avLst/>
          </a:prstGeom>
          <a:solidFill>
            <a:srgbClr val="3C46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99" name="Google Shape;19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0650" y="1441681"/>
            <a:ext cx="4068000" cy="22374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47625">
              <a:srgbClr val="000000">
                <a:alpha val="50000"/>
              </a:srgbClr>
            </a:outerShdw>
          </a:effectLst>
        </p:spPr>
      </p:pic>
      <p:sp>
        <p:nvSpPr>
          <p:cNvPr id="200" name="Google Shape;200;p26"/>
          <p:cNvSpPr txBox="1"/>
          <p:nvPr>
            <p:ph type="title"/>
          </p:nvPr>
        </p:nvSpPr>
        <p:spPr>
          <a:xfrm>
            <a:off x="540000" y="180000"/>
            <a:ext cx="8520600" cy="97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2600"/>
              <a:t>Turns out, they don't have to choose</a:t>
            </a:r>
            <a:r>
              <a:rPr lang="en-CA" sz="2600"/>
              <a:t> … </a:t>
            </a:r>
            <a:endParaRPr sz="2600"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1" lang="en-CA" sz="1700">
                <a:solidFill>
                  <a:srgbClr val="666666"/>
                </a:solidFill>
              </a:rPr>
              <a:t>Because their plan makes room for VR nights and a comfortable retirement</a:t>
            </a:r>
            <a:endParaRPr i="1" sz="1700">
              <a:solidFill>
                <a:srgbClr val="666666"/>
              </a:solidFill>
            </a:endParaRPr>
          </a:p>
        </p:txBody>
      </p:sp>
      <p:pic>
        <p:nvPicPr>
          <p:cNvPr id="201" name="Google Shape;201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8550" y="1456056"/>
            <a:ext cx="4068000" cy="22374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47625">
              <a:srgbClr val="000000">
                <a:alpha val="50000"/>
              </a:srgbClr>
            </a:outerShdw>
          </a:effectLst>
        </p:spPr>
      </p:pic>
      <p:sp>
        <p:nvSpPr>
          <p:cNvPr id="202" name="Google Shape;202;p26"/>
          <p:cNvSpPr txBox="1"/>
          <p:nvPr/>
        </p:nvSpPr>
        <p:spPr>
          <a:xfrm>
            <a:off x="5057988" y="4749900"/>
            <a:ext cx="39963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Created by </a:t>
            </a:r>
            <a:r>
              <a:rPr lang="en-CA" sz="1000" u="sng">
                <a:solidFill>
                  <a:schemeClr val="hlink"/>
                </a:solidFill>
                <a:latin typeface="Lexend"/>
                <a:ea typeface="Lexend"/>
                <a:cs typeface="Lexend"/>
                <a:sym typeface="Lexend"/>
                <a:hlinkClick r:id="rId5"/>
              </a:rPr>
              <a:t>Clarissa Yamakita</a:t>
            </a:r>
            <a:r>
              <a:rPr lang="en-CA" sz="1000">
                <a:latin typeface="Lexend"/>
                <a:ea typeface="Lexend"/>
                <a:cs typeface="Lexend"/>
                <a:sym typeface="Lexend"/>
              </a:rPr>
              <a:t> · Images generated with AI</a:t>
            </a:r>
            <a:endParaRPr sz="1000"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